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72" r:id="rId10"/>
    <p:sldId id="274" r:id="rId11"/>
    <p:sldId id="275" r:id="rId12"/>
    <p:sldId id="271"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37743" y="280390"/>
            <a:ext cx="11726545" cy="6232525"/>
          </a:xfrm>
          <a:custGeom>
            <a:avLst/>
            <a:gdLst/>
            <a:ahLst/>
            <a:cxnLst/>
            <a:rect l="l" t="t" r="r" b="b"/>
            <a:pathLst>
              <a:path w="11726545" h="6232525">
                <a:moveTo>
                  <a:pt x="11707025" y="6232347"/>
                </a:moveTo>
                <a:lnTo>
                  <a:pt x="19050" y="6232347"/>
                </a:lnTo>
                <a:lnTo>
                  <a:pt x="15735" y="6232067"/>
                </a:lnTo>
                <a:lnTo>
                  <a:pt x="0" y="6213297"/>
                </a:lnTo>
                <a:lnTo>
                  <a:pt x="0" y="19050"/>
                </a:lnTo>
                <a:lnTo>
                  <a:pt x="19050" y="0"/>
                </a:lnTo>
                <a:lnTo>
                  <a:pt x="11707025" y="0"/>
                </a:lnTo>
                <a:lnTo>
                  <a:pt x="11726075" y="19050"/>
                </a:lnTo>
                <a:lnTo>
                  <a:pt x="38100" y="19050"/>
                </a:lnTo>
                <a:lnTo>
                  <a:pt x="19050" y="38100"/>
                </a:lnTo>
                <a:lnTo>
                  <a:pt x="38100" y="38100"/>
                </a:lnTo>
                <a:lnTo>
                  <a:pt x="38100" y="6194247"/>
                </a:lnTo>
                <a:lnTo>
                  <a:pt x="19050" y="6194247"/>
                </a:lnTo>
                <a:lnTo>
                  <a:pt x="38100" y="6213297"/>
                </a:lnTo>
                <a:lnTo>
                  <a:pt x="11726075" y="6213297"/>
                </a:lnTo>
                <a:lnTo>
                  <a:pt x="11725795" y="6216611"/>
                </a:lnTo>
                <a:lnTo>
                  <a:pt x="11710339" y="6232067"/>
                </a:lnTo>
                <a:lnTo>
                  <a:pt x="11707025" y="6232347"/>
                </a:lnTo>
                <a:close/>
              </a:path>
              <a:path w="11726545" h="6232525">
                <a:moveTo>
                  <a:pt x="38100" y="38100"/>
                </a:moveTo>
                <a:lnTo>
                  <a:pt x="19050" y="38100"/>
                </a:lnTo>
                <a:lnTo>
                  <a:pt x="38100" y="19050"/>
                </a:lnTo>
                <a:lnTo>
                  <a:pt x="38100" y="38100"/>
                </a:lnTo>
                <a:close/>
              </a:path>
              <a:path w="11726545" h="6232525">
                <a:moveTo>
                  <a:pt x="11687975" y="38100"/>
                </a:moveTo>
                <a:lnTo>
                  <a:pt x="38100" y="38100"/>
                </a:lnTo>
                <a:lnTo>
                  <a:pt x="38100" y="19050"/>
                </a:lnTo>
                <a:lnTo>
                  <a:pt x="11687975" y="19050"/>
                </a:lnTo>
                <a:lnTo>
                  <a:pt x="11687975" y="38100"/>
                </a:lnTo>
                <a:close/>
              </a:path>
              <a:path w="11726545" h="6232525">
                <a:moveTo>
                  <a:pt x="11687975" y="6213297"/>
                </a:moveTo>
                <a:lnTo>
                  <a:pt x="11687975" y="19050"/>
                </a:lnTo>
                <a:lnTo>
                  <a:pt x="11707025" y="38100"/>
                </a:lnTo>
                <a:lnTo>
                  <a:pt x="11726075" y="38100"/>
                </a:lnTo>
                <a:lnTo>
                  <a:pt x="11726075" y="6194247"/>
                </a:lnTo>
                <a:lnTo>
                  <a:pt x="11707025" y="6194247"/>
                </a:lnTo>
                <a:lnTo>
                  <a:pt x="11687975" y="6213297"/>
                </a:lnTo>
                <a:close/>
              </a:path>
              <a:path w="11726545" h="6232525">
                <a:moveTo>
                  <a:pt x="11726075" y="38100"/>
                </a:moveTo>
                <a:lnTo>
                  <a:pt x="11707025" y="38100"/>
                </a:lnTo>
                <a:lnTo>
                  <a:pt x="11687975" y="19050"/>
                </a:lnTo>
                <a:lnTo>
                  <a:pt x="11726075" y="19050"/>
                </a:lnTo>
                <a:lnTo>
                  <a:pt x="11726075" y="38100"/>
                </a:lnTo>
                <a:close/>
              </a:path>
              <a:path w="11726545" h="6232525">
                <a:moveTo>
                  <a:pt x="38100" y="6213297"/>
                </a:moveTo>
                <a:lnTo>
                  <a:pt x="19050" y="6194247"/>
                </a:lnTo>
                <a:lnTo>
                  <a:pt x="38100" y="6194247"/>
                </a:lnTo>
                <a:lnTo>
                  <a:pt x="38100" y="6213297"/>
                </a:lnTo>
                <a:close/>
              </a:path>
              <a:path w="11726545" h="6232525">
                <a:moveTo>
                  <a:pt x="11687975" y="6213297"/>
                </a:moveTo>
                <a:lnTo>
                  <a:pt x="38100" y="6213297"/>
                </a:lnTo>
                <a:lnTo>
                  <a:pt x="38100" y="6194247"/>
                </a:lnTo>
                <a:lnTo>
                  <a:pt x="11687975" y="6194247"/>
                </a:lnTo>
                <a:lnTo>
                  <a:pt x="11687975" y="6213297"/>
                </a:lnTo>
                <a:close/>
              </a:path>
              <a:path w="11726545" h="6232525">
                <a:moveTo>
                  <a:pt x="11726075" y="6213297"/>
                </a:moveTo>
                <a:lnTo>
                  <a:pt x="11687975" y="6213297"/>
                </a:lnTo>
                <a:lnTo>
                  <a:pt x="11707025" y="6194247"/>
                </a:lnTo>
                <a:lnTo>
                  <a:pt x="11726075" y="6194247"/>
                </a:lnTo>
                <a:lnTo>
                  <a:pt x="11726075" y="6213297"/>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28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51536" y="298195"/>
            <a:ext cx="11654790" cy="6162675"/>
          </a:xfrm>
          <a:custGeom>
            <a:avLst/>
            <a:gdLst/>
            <a:ahLst/>
            <a:cxnLst/>
            <a:rect l="l" t="t" r="r" b="b"/>
            <a:pathLst>
              <a:path w="11654790" h="6162675">
                <a:moveTo>
                  <a:pt x="11635206" y="6162484"/>
                </a:moveTo>
                <a:lnTo>
                  <a:pt x="19050" y="6162484"/>
                </a:lnTo>
                <a:lnTo>
                  <a:pt x="15747" y="6162192"/>
                </a:lnTo>
                <a:lnTo>
                  <a:pt x="0" y="6143434"/>
                </a:lnTo>
                <a:lnTo>
                  <a:pt x="0" y="19049"/>
                </a:lnTo>
                <a:lnTo>
                  <a:pt x="19050" y="0"/>
                </a:lnTo>
                <a:lnTo>
                  <a:pt x="11635206" y="0"/>
                </a:lnTo>
                <a:lnTo>
                  <a:pt x="11654256" y="19049"/>
                </a:lnTo>
                <a:lnTo>
                  <a:pt x="38100" y="19049"/>
                </a:lnTo>
                <a:lnTo>
                  <a:pt x="19050" y="38099"/>
                </a:lnTo>
                <a:lnTo>
                  <a:pt x="38100" y="38099"/>
                </a:lnTo>
                <a:lnTo>
                  <a:pt x="38100" y="6124384"/>
                </a:lnTo>
                <a:lnTo>
                  <a:pt x="19050" y="6124384"/>
                </a:lnTo>
                <a:lnTo>
                  <a:pt x="38100" y="6143434"/>
                </a:lnTo>
                <a:lnTo>
                  <a:pt x="11654256" y="6143434"/>
                </a:lnTo>
                <a:lnTo>
                  <a:pt x="11653964" y="6146736"/>
                </a:lnTo>
                <a:lnTo>
                  <a:pt x="11638521" y="6162192"/>
                </a:lnTo>
                <a:lnTo>
                  <a:pt x="11635206" y="6162484"/>
                </a:lnTo>
                <a:close/>
              </a:path>
              <a:path w="11654790" h="6162675">
                <a:moveTo>
                  <a:pt x="38100" y="38099"/>
                </a:moveTo>
                <a:lnTo>
                  <a:pt x="19050" y="38099"/>
                </a:lnTo>
                <a:lnTo>
                  <a:pt x="38100" y="19049"/>
                </a:lnTo>
                <a:lnTo>
                  <a:pt x="38100" y="38099"/>
                </a:lnTo>
                <a:close/>
              </a:path>
              <a:path w="11654790" h="6162675">
                <a:moveTo>
                  <a:pt x="11616156" y="38099"/>
                </a:moveTo>
                <a:lnTo>
                  <a:pt x="38100" y="38099"/>
                </a:lnTo>
                <a:lnTo>
                  <a:pt x="38100" y="19049"/>
                </a:lnTo>
                <a:lnTo>
                  <a:pt x="11616156" y="19049"/>
                </a:lnTo>
                <a:lnTo>
                  <a:pt x="11616156" y="38099"/>
                </a:lnTo>
                <a:close/>
              </a:path>
              <a:path w="11654790" h="6162675">
                <a:moveTo>
                  <a:pt x="11616156" y="6143434"/>
                </a:moveTo>
                <a:lnTo>
                  <a:pt x="11616156" y="19049"/>
                </a:lnTo>
                <a:lnTo>
                  <a:pt x="11635206" y="38099"/>
                </a:lnTo>
                <a:lnTo>
                  <a:pt x="11654256" y="38099"/>
                </a:lnTo>
                <a:lnTo>
                  <a:pt x="11654256" y="6124384"/>
                </a:lnTo>
                <a:lnTo>
                  <a:pt x="11635206" y="6124384"/>
                </a:lnTo>
                <a:lnTo>
                  <a:pt x="11616156" y="6143434"/>
                </a:lnTo>
                <a:close/>
              </a:path>
              <a:path w="11654790" h="6162675">
                <a:moveTo>
                  <a:pt x="11654256" y="38099"/>
                </a:moveTo>
                <a:lnTo>
                  <a:pt x="11635206" y="38099"/>
                </a:lnTo>
                <a:lnTo>
                  <a:pt x="11616156" y="19049"/>
                </a:lnTo>
                <a:lnTo>
                  <a:pt x="11654256" y="19049"/>
                </a:lnTo>
                <a:lnTo>
                  <a:pt x="11654256" y="38099"/>
                </a:lnTo>
                <a:close/>
              </a:path>
              <a:path w="11654790" h="6162675">
                <a:moveTo>
                  <a:pt x="38100" y="6143434"/>
                </a:moveTo>
                <a:lnTo>
                  <a:pt x="19050" y="6124384"/>
                </a:lnTo>
                <a:lnTo>
                  <a:pt x="38100" y="6124384"/>
                </a:lnTo>
                <a:lnTo>
                  <a:pt x="38100" y="6143434"/>
                </a:lnTo>
                <a:close/>
              </a:path>
              <a:path w="11654790" h="6162675">
                <a:moveTo>
                  <a:pt x="11616156" y="6143434"/>
                </a:moveTo>
                <a:lnTo>
                  <a:pt x="38100" y="6143434"/>
                </a:lnTo>
                <a:lnTo>
                  <a:pt x="38100" y="6124384"/>
                </a:lnTo>
                <a:lnTo>
                  <a:pt x="11616156" y="6124384"/>
                </a:lnTo>
                <a:lnTo>
                  <a:pt x="11616156" y="6143434"/>
                </a:lnTo>
                <a:close/>
              </a:path>
              <a:path w="11654790" h="6162675">
                <a:moveTo>
                  <a:pt x="11654256" y="6143434"/>
                </a:moveTo>
                <a:lnTo>
                  <a:pt x="11616156" y="6143434"/>
                </a:lnTo>
                <a:lnTo>
                  <a:pt x="11635206" y="6124384"/>
                </a:lnTo>
                <a:lnTo>
                  <a:pt x="11654256" y="6124384"/>
                </a:lnTo>
                <a:lnTo>
                  <a:pt x="11654256" y="6143434"/>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28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355975" y="510984"/>
            <a:ext cx="5858509" cy="1246835"/>
          </a:xfrm>
          <a:prstGeom prst="rect">
            <a:avLst/>
          </a:prstGeom>
        </p:spPr>
        <p:txBody>
          <a:bodyPr wrap="square" lIns="0" tIns="0" rIns="0" bIns="0">
            <a:spAutoFit/>
          </a:bodyPr>
          <a:lstStyle>
            <a:lvl1pPr>
              <a:defRPr sz="28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1056195" y="1774355"/>
            <a:ext cx="6555105" cy="3317240"/>
          </a:xfrm>
          <a:prstGeom prst="rect">
            <a:avLst/>
          </a:prstGeom>
        </p:spPr>
        <p:txBody>
          <a:bodyPr wrap="square" lIns="0" tIns="0" rIns="0" bIns="0">
            <a:spAutoFit/>
          </a:bodyPr>
          <a:lstStyle>
            <a:lvl1pPr>
              <a:defRPr sz="240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jpe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95909" y="326390"/>
            <a:ext cx="11630660" cy="1877060"/>
            <a:chOff x="295909" y="326390"/>
            <a:chExt cx="11630660" cy="1877060"/>
          </a:xfrm>
        </p:grpSpPr>
        <p:sp>
          <p:nvSpPr>
            <p:cNvPr id="3" name="object 3"/>
            <p:cNvSpPr/>
            <p:nvPr/>
          </p:nvSpPr>
          <p:spPr>
            <a:xfrm>
              <a:off x="295909" y="326390"/>
              <a:ext cx="11630660" cy="1877060"/>
            </a:xfrm>
            <a:custGeom>
              <a:avLst/>
              <a:gdLst/>
              <a:ahLst/>
              <a:cxnLst/>
              <a:rect l="l" t="t" r="r" b="b"/>
              <a:pathLst>
                <a:path w="11630660" h="1877060">
                  <a:moveTo>
                    <a:pt x="11611610" y="1877059"/>
                  </a:moveTo>
                  <a:lnTo>
                    <a:pt x="19050" y="1877059"/>
                  </a:lnTo>
                  <a:lnTo>
                    <a:pt x="15747" y="1876767"/>
                  </a:lnTo>
                  <a:lnTo>
                    <a:pt x="0" y="1858009"/>
                  </a:lnTo>
                  <a:lnTo>
                    <a:pt x="0" y="19049"/>
                  </a:lnTo>
                  <a:lnTo>
                    <a:pt x="19050" y="0"/>
                  </a:lnTo>
                  <a:lnTo>
                    <a:pt x="11611610" y="0"/>
                  </a:lnTo>
                  <a:lnTo>
                    <a:pt x="11630660" y="19049"/>
                  </a:lnTo>
                  <a:lnTo>
                    <a:pt x="38100" y="19049"/>
                  </a:lnTo>
                  <a:lnTo>
                    <a:pt x="19050" y="38099"/>
                  </a:lnTo>
                  <a:lnTo>
                    <a:pt x="38100" y="38099"/>
                  </a:lnTo>
                  <a:lnTo>
                    <a:pt x="38100" y="1838959"/>
                  </a:lnTo>
                  <a:lnTo>
                    <a:pt x="19050" y="1838959"/>
                  </a:lnTo>
                  <a:lnTo>
                    <a:pt x="38100" y="1858009"/>
                  </a:lnTo>
                  <a:lnTo>
                    <a:pt x="11630660" y="1858009"/>
                  </a:lnTo>
                  <a:lnTo>
                    <a:pt x="11630367" y="1861311"/>
                  </a:lnTo>
                  <a:lnTo>
                    <a:pt x="11614912" y="1876767"/>
                  </a:lnTo>
                  <a:lnTo>
                    <a:pt x="11611610" y="1877059"/>
                  </a:lnTo>
                  <a:close/>
                </a:path>
                <a:path w="11630660" h="1877060">
                  <a:moveTo>
                    <a:pt x="38100" y="38099"/>
                  </a:moveTo>
                  <a:lnTo>
                    <a:pt x="19050" y="38099"/>
                  </a:lnTo>
                  <a:lnTo>
                    <a:pt x="38100" y="19049"/>
                  </a:lnTo>
                  <a:lnTo>
                    <a:pt x="38100" y="38099"/>
                  </a:lnTo>
                  <a:close/>
                </a:path>
                <a:path w="11630660" h="1877060">
                  <a:moveTo>
                    <a:pt x="11592560" y="38099"/>
                  </a:moveTo>
                  <a:lnTo>
                    <a:pt x="38100" y="38099"/>
                  </a:lnTo>
                  <a:lnTo>
                    <a:pt x="38100" y="19049"/>
                  </a:lnTo>
                  <a:lnTo>
                    <a:pt x="11592560" y="19049"/>
                  </a:lnTo>
                  <a:lnTo>
                    <a:pt x="11592560" y="38099"/>
                  </a:lnTo>
                  <a:close/>
                </a:path>
                <a:path w="11630660" h="1877060">
                  <a:moveTo>
                    <a:pt x="11592560" y="1858009"/>
                  </a:moveTo>
                  <a:lnTo>
                    <a:pt x="11592560" y="19049"/>
                  </a:lnTo>
                  <a:lnTo>
                    <a:pt x="11611610" y="38099"/>
                  </a:lnTo>
                  <a:lnTo>
                    <a:pt x="11630660" y="38099"/>
                  </a:lnTo>
                  <a:lnTo>
                    <a:pt x="11630660" y="1838959"/>
                  </a:lnTo>
                  <a:lnTo>
                    <a:pt x="11611610" y="1838959"/>
                  </a:lnTo>
                  <a:lnTo>
                    <a:pt x="11592560" y="1858009"/>
                  </a:lnTo>
                  <a:close/>
                </a:path>
                <a:path w="11630660" h="1877060">
                  <a:moveTo>
                    <a:pt x="11630660" y="38099"/>
                  </a:moveTo>
                  <a:lnTo>
                    <a:pt x="11611610" y="38099"/>
                  </a:lnTo>
                  <a:lnTo>
                    <a:pt x="11592560" y="19049"/>
                  </a:lnTo>
                  <a:lnTo>
                    <a:pt x="11630660" y="19049"/>
                  </a:lnTo>
                  <a:lnTo>
                    <a:pt x="11630660" y="38099"/>
                  </a:lnTo>
                  <a:close/>
                </a:path>
                <a:path w="11630660" h="1877060">
                  <a:moveTo>
                    <a:pt x="38100" y="1858009"/>
                  </a:moveTo>
                  <a:lnTo>
                    <a:pt x="19050" y="1838959"/>
                  </a:lnTo>
                  <a:lnTo>
                    <a:pt x="38100" y="1838959"/>
                  </a:lnTo>
                  <a:lnTo>
                    <a:pt x="38100" y="1858009"/>
                  </a:lnTo>
                  <a:close/>
                </a:path>
                <a:path w="11630660" h="1877060">
                  <a:moveTo>
                    <a:pt x="11592560" y="1858009"/>
                  </a:moveTo>
                  <a:lnTo>
                    <a:pt x="38100" y="1858009"/>
                  </a:lnTo>
                  <a:lnTo>
                    <a:pt x="38100" y="1838959"/>
                  </a:lnTo>
                  <a:lnTo>
                    <a:pt x="11592560" y="1838959"/>
                  </a:lnTo>
                  <a:lnTo>
                    <a:pt x="11592560" y="1858009"/>
                  </a:lnTo>
                  <a:close/>
                </a:path>
                <a:path w="11630660" h="1877060">
                  <a:moveTo>
                    <a:pt x="11630660" y="1858009"/>
                  </a:moveTo>
                  <a:lnTo>
                    <a:pt x="11592560" y="1858009"/>
                  </a:lnTo>
                  <a:lnTo>
                    <a:pt x="11611610" y="1838959"/>
                  </a:lnTo>
                  <a:lnTo>
                    <a:pt x="11630660" y="1838959"/>
                  </a:lnTo>
                  <a:lnTo>
                    <a:pt x="11630660" y="1858009"/>
                  </a:lnTo>
                  <a:close/>
                </a:path>
              </a:pathLst>
            </a:custGeom>
            <a:solidFill>
              <a:srgbClr val="000000"/>
            </a:solidFill>
          </p:spPr>
          <p:txBody>
            <a:bodyPr wrap="square" lIns="0" tIns="0" rIns="0" bIns="0" rtlCol="0"/>
            <a:lstStyle/>
            <a:p/>
          </p:txBody>
        </p:sp>
        <p:pic>
          <p:nvPicPr>
            <p:cNvPr id="4" name="object 4"/>
            <p:cNvPicPr/>
            <p:nvPr/>
          </p:nvPicPr>
          <p:blipFill>
            <a:blip r:embed="rId1" cstate="print"/>
            <a:stretch>
              <a:fillRect/>
            </a:stretch>
          </p:blipFill>
          <p:spPr>
            <a:xfrm>
              <a:off x="589787" y="507492"/>
              <a:ext cx="10972800" cy="1181100"/>
            </a:xfrm>
            <a:prstGeom prst="rect">
              <a:avLst/>
            </a:prstGeom>
          </p:spPr>
        </p:pic>
      </p:grpSp>
      <p:sp>
        <p:nvSpPr>
          <p:cNvPr id="5" name="object 5"/>
          <p:cNvSpPr/>
          <p:nvPr/>
        </p:nvSpPr>
        <p:spPr>
          <a:xfrm>
            <a:off x="1350010" y="3539261"/>
            <a:ext cx="9522460" cy="3319145"/>
          </a:xfrm>
          <a:custGeom>
            <a:avLst/>
            <a:gdLst/>
            <a:ahLst/>
            <a:cxnLst/>
            <a:rect l="l" t="t" r="r" b="b"/>
            <a:pathLst>
              <a:path w="9522460" h="3319145">
                <a:moveTo>
                  <a:pt x="12700" y="3318738"/>
                </a:moveTo>
                <a:lnTo>
                  <a:pt x="0" y="3318738"/>
                </a:lnTo>
                <a:lnTo>
                  <a:pt x="0" y="6350"/>
                </a:lnTo>
                <a:lnTo>
                  <a:pt x="6350" y="0"/>
                </a:lnTo>
                <a:lnTo>
                  <a:pt x="9516110" y="0"/>
                </a:lnTo>
                <a:lnTo>
                  <a:pt x="9522460" y="6350"/>
                </a:lnTo>
                <a:lnTo>
                  <a:pt x="12700" y="6350"/>
                </a:lnTo>
                <a:lnTo>
                  <a:pt x="6350" y="12700"/>
                </a:lnTo>
                <a:lnTo>
                  <a:pt x="12700" y="12700"/>
                </a:lnTo>
                <a:lnTo>
                  <a:pt x="12700" y="3318738"/>
                </a:lnTo>
                <a:close/>
              </a:path>
              <a:path w="9522460" h="3319145">
                <a:moveTo>
                  <a:pt x="12700" y="12700"/>
                </a:moveTo>
                <a:lnTo>
                  <a:pt x="6350" y="12700"/>
                </a:lnTo>
                <a:lnTo>
                  <a:pt x="12700" y="6350"/>
                </a:lnTo>
                <a:lnTo>
                  <a:pt x="12700" y="12700"/>
                </a:lnTo>
                <a:close/>
              </a:path>
              <a:path w="9522460" h="3319145">
                <a:moveTo>
                  <a:pt x="9509760" y="12700"/>
                </a:moveTo>
                <a:lnTo>
                  <a:pt x="12700" y="12700"/>
                </a:lnTo>
                <a:lnTo>
                  <a:pt x="12700" y="6350"/>
                </a:lnTo>
                <a:lnTo>
                  <a:pt x="9509760" y="6350"/>
                </a:lnTo>
                <a:lnTo>
                  <a:pt x="9509760" y="12700"/>
                </a:lnTo>
                <a:close/>
              </a:path>
              <a:path w="9522460" h="3319145">
                <a:moveTo>
                  <a:pt x="9522460" y="3318738"/>
                </a:moveTo>
                <a:lnTo>
                  <a:pt x="9509760" y="3318738"/>
                </a:lnTo>
                <a:lnTo>
                  <a:pt x="9509760" y="6350"/>
                </a:lnTo>
                <a:lnTo>
                  <a:pt x="9516110" y="12700"/>
                </a:lnTo>
                <a:lnTo>
                  <a:pt x="9522460" y="12700"/>
                </a:lnTo>
                <a:lnTo>
                  <a:pt x="9522460" y="3318738"/>
                </a:lnTo>
                <a:close/>
              </a:path>
              <a:path w="9522460" h="3319145">
                <a:moveTo>
                  <a:pt x="9522460" y="12700"/>
                </a:moveTo>
                <a:lnTo>
                  <a:pt x="9516110" y="12700"/>
                </a:lnTo>
                <a:lnTo>
                  <a:pt x="9509760" y="6350"/>
                </a:lnTo>
                <a:lnTo>
                  <a:pt x="9522460" y="6350"/>
                </a:lnTo>
                <a:lnTo>
                  <a:pt x="9522460" y="12700"/>
                </a:lnTo>
                <a:close/>
              </a:path>
            </a:pathLst>
          </a:custGeom>
          <a:solidFill>
            <a:srgbClr val="000000"/>
          </a:solidFill>
        </p:spPr>
        <p:txBody>
          <a:bodyPr wrap="square" lIns="0" tIns="0" rIns="0" bIns="0" rtlCol="0"/>
          <a:lstStyle/>
          <a:p/>
        </p:txBody>
      </p:sp>
      <p:sp>
        <p:nvSpPr>
          <p:cNvPr id="6" name="object 6"/>
          <p:cNvSpPr txBox="1"/>
          <p:nvPr/>
        </p:nvSpPr>
        <p:spPr>
          <a:xfrm>
            <a:off x="1426210" y="3498850"/>
            <a:ext cx="8074025" cy="2150745"/>
          </a:xfrm>
          <a:prstGeom prst="rect">
            <a:avLst/>
          </a:prstGeom>
        </p:spPr>
        <p:txBody>
          <a:bodyPr vert="horz" wrap="square" lIns="0" tIns="131445" rIns="0" bIns="0" rtlCol="0">
            <a:spAutoFit/>
          </a:bodyPr>
          <a:lstStyle/>
          <a:p>
            <a:pPr marR="1324610" algn="l">
              <a:lnSpc>
                <a:spcPct val="100000"/>
              </a:lnSpc>
              <a:spcBef>
                <a:spcPts val="1035"/>
              </a:spcBef>
            </a:pPr>
            <a:r>
              <a:rPr sz="2000" dirty="0">
                <a:latin typeface="Times New Roman" panose="02020603050405020304"/>
                <a:cs typeface="Times New Roman" panose="02020603050405020304"/>
              </a:rPr>
              <a:t>Presented</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by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r>
              <a:rPr sz="2000" spc="-15" dirty="0">
                <a:latin typeface="Times New Roman" panose="02020603050405020304"/>
                <a:cs typeface="Times New Roman" panose="02020603050405020304"/>
              </a:rPr>
              <a:t> </a:t>
            </a:r>
            <a:r>
              <a:rPr lang="en-IN" altLang="" sz="2000" spc="-15" dirty="0">
                <a:latin typeface="Times New Roman" panose="02020603050405020304"/>
                <a:cs typeface="Times New Roman" panose="02020603050405020304"/>
              </a:rPr>
              <a:t>Dhaanush Rajan - 192421162</a:t>
            </a:r>
            <a:endParaRPr sz="2000">
              <a:latin typeface="Times New Roman" panose="02020603050405020304"/>
              <a:cs typeface="Times New Roman" panose="02020603050405020304"/>
            </a:endParaRPr>
          </a:p>
          <a:p>
            <a:pPr marL="12700">
              <a:lnSpc>
                <a:spcPct val="100000"/>
              </a:lnSpc>
              <a:spcBef>
                <a:spcPts val="940"/>
              </a:spcBef>
            </a:pPr>
            <a:r>
              <a:rPr sz="2000" dirty="0">
                <a:latin typeface="Times New Roman" panose="02020603050405020304"/>
                <a:cs typeface="Times New Roman" panose="02020603050405020304"/>
              </a:rPr>
              <a:t>Subject</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code:</a:t>
            </a:r>
            <a:r>
              <a:rPr sz="2000" spc="-45" dirty="0">
                <a:latin typeface="Times New Roman" panose="02020603050405020304"/>
                <a:cs typeface="Times New Roman" panose="02020603050405020304"/>
              </a:rPr>
              <a:t> </a:t>
            </a:r>
            <a:r>
              <a:rPr lang="en-IN" altLang="" sz="2000" spc="-45" dirty="0">
                <a:latin typeface="Times New Roman" panose="02020603050405020304"/>
                <a:cs typeface="Times New Roman" panose="02020603050405020304"/>
              </a:rPr>
              <a:t>CSA5116</a:t>
            </a:r>
            <a:endParaRPr sz="2000">
              <a:latin typeface="Times New Roman" panose="02020603050405020304"/>
              <a:cs typeface="Times New Roman" panose="02020603050405020304"/>
            </a:endParaRPr>
          </a:p>
          <a:p>
            <a:pPr marL="12700" marR="5080">
              <a:lnSpc>
                <a:spcPct val="139000"/>
              </a:lnSpc>
            </a:pPr>
            <a:r>
              <a:rPr sz="2000" spc="-10" dirty="0">
                <a:latin typeface="Times New Roman" panose="02020603050405020304"/>
                <a:cs typeface="Times New Roman" panose="02020603050405020304"/>
              </a:rPr>
              <a:t>Subject:</a:t>
            </a:r>
            <a:r>
              <a:rPr sz="2000" spc="-105" dirty="0">
                <a:latin typeface="Times New Roman" panose="02020603050405020304"/>
                <a:cs typeface="Times New Roman" panose="02020603050405020304"/>
              </a:rPr>
              <a:t> </a:t>
            </a:r>
            <a:r>
              <a:rPr lang="en-IN" altLang="" sz="2000" spc="-105" dirty="0">
                <a:latin typeface="Times New Roman" panose="02020603050405020304"/>
                <a:cs typeface="Times New Roman" panose="02020603050405020304"/>
              </a:rPr>
              <a:t>CRYPTOGRAPHY AND NETWORK SECURITY</a:t>
            </a:r>
            <a:endParaRPr sz="2000" spc="-10" dirty="0">
              <a:latin typeface="Times New Roman" panose="02020603050405020304"/>
              <a:cs typeface="Times New Roman" panose="02020603050405020304"/>
            </a:endParaRPr>
          </a:p>
          <a:p>
            <a:pPr marL="12700" marR="5080">
              <a:lnSpc>
                <a:spcPct val="139000"/>
              </a:lnSpc>
            </a:pP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Guide</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name</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r>
              <a:rPr sz="2000" spc="-50" dirty="0">
                <a:latin typeface="Times New Roman" panose="02020603050405020304"/>
                <a:cs typeface="Times New Roman" panose="02020603050405020304"/>
              </a:rPr>
              <a:t> Dr.</a:t>
            </a:r>
            <a:r>
              <a:rPr sz="2000" spc="-75" dirty="0">
                <a:latin typeface="Times New Roman" panose="02020603050405020304"/>
                <a:cs typeface="Times New Roman" panose="02020603050405020304"/>
              </a:rPr>
              <a:t> </a:t>
            </a:r>
            <a:r>
              <a:rPr lang="en-IN" altLang="" sz="2000" spc="-75" dirty="0">
                <a:latin typeface="Times New Roman" panose="02020603050405020304"/>
                <a:cs typeface="Times New Roman" panose="02020603050405020304"/>
              </a:rPr>
              <a:t>E. ANBALAGAN </a:t>
            </a:r>
            <a:endParaRPr sz="2000">
              <a:latin typeface="Times New Roman" panose="02020603050405020304"/>
              <a:cs typeface="Times New Roman" panose="02020603050405020304"/>
            </a:endParaRPr>
          </a:p>
          <a:p>
            <a:pPr marL="1381760">
              <a:lnSpc>
                <a:spcPct val="100000"/>
              </a:lnSpc>
              <a:spcBef>
                <a:spcPts val="940"/>
              </a:spcBef>
            </a:pPr>
            <a:endParaRPr sz="2000">
              <a:latin typeface="Times New Roman" panose="02020603050405020304"/>
              <a:cs typeface="Times New Roman" panose="02020603050405020304"/>
            </a:endParaRPr>
          </a:p>
        </p:txBody>
      </p:sp>
      <p:sp>
        <p:nvSpPr>
          <p:cNvPr id="7" name="object 7" descr="$PPTXTitle"/>
          <p:cNvSpPr txBox="1">
            <a:spLocks noGrp="1"/>
          </p:cNvSpPr>
          <p:nvPr>
            <p:ph type="title"/>
          </p:nvPr>
        </p:nvSpPr>
        <p:spPr>
          <a:xfrm>
            <a:off x="1825256" y="2269921"/>
            <a:ext cx="8796020" cy="566420"/>
          </a:xfrm>
          <a:prstGeom prst="rect">
            <a:avLst/>
          </a:prstGeom>
        </p:spPr>
        <p:txBody>
          <a:bodyPr vert="horz" wrap="square" lIns="0" tIns="12700" rIns="0" bIns="0" rtlCol="0">
            <a:spAutoFit/>
          </a:bodyPr>
          <a:lstStyle/>
          <a:p>
            <a:pPr marL="3699510" marR="5080" indent="-3686810" algn="ctr">
              <a:lnSpc>
                <a:spcPct val="100000"/>
              </a:lnSpc>
              <a:spcBef>
                <a:spcPts val="100"/>
              </a:spcBef>
            </a:pPr>
            <a:r>
              <a:rPr lang="en-IN" sz="3600"/>
              <a:t>TECHNICAL PRESENTATION</a:t>
            </a:r>
            <a:endParaRPr lang="en-IN" sz="3600"/>
          </a:p>
        </p:txBody>
      </p:sp>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52005" rIns="0" bIns="0" rtlCol="0">
            <a:spAutoFit/>
          </a:bodyPr>
          <a:lstStyle/>
          <a:p>
            <a:pPr marL="958850">
              <a:lnSpc>
                <a:spcPct val="100000"/>
              </a:lnSpc>
              <a:spcBef>
                <a:spcPts val="105"/>
              </a:spcBef>
            </a:pPr>
            <a:r>
              <a:rPr sz="3200" spc="-10" dirty="0"/>
              <a:t>INTRODUCTION</a:t>
            </a:r>
            <a:endParaRPr sz="3200"/>
          </a:p>
        </p:txBody>
      </p:sp>
      <p:pic>
        <p:nvPicPr>
          <p:cNvPr id="3" name="object 3"/>
          <p:cNvPicPr/>
          <p:nvPr/>
        </p:nvPicPr>
        <p:blipFill>
          <a:blip r:embed="rId1" cstate="print"/>
          <a:stretch>
            <a:fillRect/>
          </a:stretch>
        </p:blipFill>
        <p:spPr>
          <a:xfrm>
            <a:off x="597408" y="452627"/>
            <a:ext cx="1418844" cy="1447800"/>
          </a:xfrm>
          <a:prstGeom prst="rect">
            <a:avLst/>
          </a:prstGeom>
        </p:spPr>
      </p:pic>
      <p:pic>
        <p:nvPicPr>
          <p:cNvPr id="4" name="object 4"/>
          <p:cNvPicPr/>
          <p:nvPr/>
        </p:nvPicPr>
        <p:blipFill>
          <a:blip r:embed="rId2" cstate="print"/>
          <a:stretch>
            <a:fillRect/>
          </a:stretch>
        </p:blipFill>
        <p:spPr>
          <a:xfrm>
            <a:off x="9947147" y="385572"/>
            <a:ext cx="1647444" cy="1342644"/>
          </a:xfrm>
          <a:prstGeom prst="rect">
            <a:avLst/>
          </a:prstGeom>
        </p:spPr>
      </p:pic>
      <p:sp>
        <p:nvSpPr>
          <p:cNvPr id="8" name="object 8"/>
          <p:cNvSpPr/>
          <p:nvPr/>
        </p:nvSpPr>
        <p:spPr>
          <a:xfrm>
            <a:off x="635" y="635"/>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
        <p:nvSpPr>
          <p:cNvPr id="9" name="Text Box 8"/>
          <p:cNvSpPr txBox="1"/>
          <p:nvPr/>
        </p:nvSpPr>
        <p:spPr>
          <a:xfrm>
            <a:off x="763270" y="2209800"/>
            <a:ext cx="10666095" cy="2870200"/>
          </a:xfrm>
          <a:prstGeom prst="rect">
            <a:avLst/>
          </a:prstGeom>
        </p:spPr>
        <p:txBody>
          <a:bodyPr wrap="square">
            <a:spAutoFit/>
          </a:bodyPr>
          <a:p>
            <a:r>
              <a:rPr lang="en-US" altLang="zh-CN" sz="1600">
                <a:latin typeface="Times New Roman" panose="02020603050405020304" charset="0"/>
                <a:cs typeface="Times New Roman" panose="02020603050405020304" charset="0"/>
              </a:rPr>
              <a:t>Cryptography is the science of protecting information by converting plaintext into ciphertext so that unauthorized users cannot read it.</a:t>
            </a:r>
            <a:endParaRPr lang="en-US" altLang="zh-CN" sz="1600">
              <a:latin typeface="Times New Roman" panose="02020603050405020304" charset="0"/>
              <a:cs typeface="Times New Roman" panose="02020603050405020304" charset="0"/>
            </a:endParaRPr>
          </a:p>
          <a:p>
            <a:endParaRPr lang="en-US" altLang="zh-CN" sz="1600">
              <a:latin typeface="Times New Roman" panose="02020603050405020304" charset="0"/>
              <a:cs typeface="Times New Roman" panose="02020603050405020304" charset="0"/>
            </a:endParaRPr>
          </a:p>
          <a:p>
            <a:pPr>
              <a:spcAft>
                <a:spcPct val="60000"/>
              </a:spcAft>
            </a:pPr>
            <a:r>
              <a:rPr lang="en-US" altLang="zh-CN" sz="2200" b="1">
                <a:latin typeface="Times New Roman" panose="02020603050405020304" charset="0"/>
                <a:cs typeface="Times New Roman" panose="02020603050405020304" charset="0"/>
              </a:rPr>
              <a:t>Basic Terms</a:t>
            </a:r>
            <a:endParaRPr lang="en-US" altLang="zh-CN" sz="2200" b="1">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Plaintext (P): Original readable message.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Ciphertext (C): Encrypted unreadable message.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Encryption: Process of converting plaintext into ciphertext.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Decryption: Process of converting ciphertext back into plaintext.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Key: Secret value used for encryption and decryption.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Cipher: Algorithm used for encryption and decryption.</a:t>
            </a:r>
            <a:endParaRPr lang="en-US" altLang="zh-CN"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14600" y="510984"/>
            <a:ext cx="5858509" cy="998220"/>
          </a:xfrm>
          <a:prstGeom prst="rect">
            <a:avLst/>
          </a:prstGeom>
        </p:spPr>
        <p:txBody>
          <a:bodyPr vert="horz" wrap="square" lIns="0" tIns="13335" rIns="0" bIns="0" rtlCol="0">
            <a:spAutoFit/>
          </a:bodyPr>
          <a:lstStyle/>
          <a:p>
            <a:pPr marL="1256030" algn="ctr">
              <a:lnSpc>
                <a:spcPct val="100000"/>
              </a:lnSpc>
              <a:spcBef>
                <a:spcPts val="105"/>
              </a:spcBef>
            </a:pPr>
            <a:r>
              <a:rPr lang="en-US" altLang="en-US" sz="3200"/>
              <a:t>Security Attacks, Threats, and Risks</a:t>
            </a:r>
            <a:endParaRPr lang="en-US" altLang="en-US" sz="3200"/>
          </a:p>
        </p:txBody>
      </p:sp>
      <p:pic>
        <p:nvPicPr>
          <p:cNvPr id="3" name="object 3"/>
          <p:cNvPicPr/>
          <p:nvPr/>
        </p:nvPicPr>
        <p:blipFill>
          <a:blip r:embed="rId1" cstate="print"/>
          <a:stretch>
            <a:fillRect/>
          </a:stretch>
        </p:blipFill>
        <p:spPr>
          <a:xfrm>
            <a:off x="259079" y="364236"/>
            <a:ext cx="1418844" cy="1447800"/>
          </a:xfrm>
          <a:prstGeom prst="rect">
            <a:avLst/>
          </a:prstGeom>
        </p:spPr>
      </p:pic>
      <p:pic>
        <p:nvPicPr>
          <p:cNvPr id="5" name="object 5"/>
          <p:cNvPicPr/>
          <p:nvPr/>
        </p:nvPicPr>
        <p:blipFill>
          <a:blip r:embed="rId2" cstate="print"/>
          <a:stretch>
            <a:fillRect/>
          </a:stretch>
        </p:blipFill>
        <p:spPr>
          <a:xfrm>
            <a:off x="10218420" y="364490"/>
            <a:ext cx="1647190" cy="1342390"/>
          </a:xfrm>
          <a:prstGeom prst="rect">
            <a:avLst/>
          </a:prstGeom>
        </p:spPr>
      </p:pic>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
        <p:nvSpPr>
          <p:cNvPr id="9" name="Text Box 8"/>
          <p:cNvSpPr txBox="1"/>
          <p:nvPr/>
        </p:nvSpPr>
        <p:spPr>
          <a:xfrm>
            <a:off x="1143000" y="1828800"/>
            <a:ext cx="8956040" cy="3919855"/>
          </a:xfrm>
          <a:prstGeom prst="rect">
            <a:avLst/>
          </a:prstGeom>
        </p:spPr>
        <p:txBody>
          <a:bodyPr wrap="square">
            <a:spAutoFit/>
          </a:bodyPr>
          <a:p>
            <a:pPr>
              <a:spcAft>
                <a:spcPct val="60000"/>
              </a:spcAft>
            </a:pPr>
            <a:r>
              <a:rPr lang="en-US" altLang="zh-CN" sz="2200" b="1">
                <a:latin typeface="Times New Roman" panose="02020603050405020304" charset="0"/>
                <a:cs typeface="Times New Roman" panose="02020603050405020304" charset="0"/>
              </a:rPr>
              <a:t>Security Attack</a:t>
            </a:r>
            <a:endParaRPr lang="en-US" altLang="zh-CN" sz="2200" b="1">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A security attack is an attempt to compromise the confidentiality, integrity, or availability of information.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It aims to gain unauthorized access, modify, destroy, or disrupt data. </a:t>
            </a:r>
            <a:endParaRPr lang="en-US" altLang="zh-CN" sz="1600">
              <a:latin typeface="Times New Roman" panose="02020603050405020304" charset="0"/>
              <a:cs typeface="Times New Roman" panose="02020603050405020304" charset="0"/>
            </a:endParaRPr>
          </a:p>
          <a:p>
            <a:pPr>
              <a:spcAft>
                <a:spcPct val="60000"/>
              </a:spcAft>
            </a:pPr>
            <a:r>
              <a:rPr lang="en-US" altLang="zh-CN" sz="2200" b="1">
                <a:latin typeface="Times New Roman" panose="02020603050405020304" charset="0"/>
                <a:cs typeface="Times New Roman" panose="02020603050405020304" charset="0"/>
              </a:rPr>
              <a:t>Types of Security Attacks</a:t>
            </a:r>
            <a:endParaRPr lang="en-US" altLang="zh-CN" sz="2200" b="1">
              <a:latin typeface="Times New Roman" panose="02020603050405020304" charset="0"/>
              <a:cs typeface="Times New Roman" panose="02020603050405020304" charset="0"/>
            </a:endParaRPr>
          </a:p>
          <a:p>
            <a:pPr>
              <a:spcAft>
                <a:spcPct val="60000"/>
              </a:spcAft>
            </a:pPr>
            <a:r>
              <a:rPr lang="en-US" altLang="zh-CN" sz="1900" b="1">
                <a:latin typeface="Times New Roman" panose="02020603050405020304" charset="0"/>
                <a:cs typeface="Times New Roman" panose="02020603050405020304" charset="0"/>
              </a:rPr>
              <a:t>A. Passive Attack</a:t>
            </a:r>
            <a:endParaRPr lang="en-US" altLang="zh-CN" sz="1900" b="1">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The attacker only monitors or intercepts the communication.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No changes are made to the data.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Difficult to detect because the system remains unchanged.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Mainly affects confidentiality. </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Examples:</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Eavesdropping (Listening to private communication)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Traffic Analysis (Analyzing communication patterns)</a:t>
            </a:r>
            <a:endParaRPr lang="en-US" altLang="zh-CN" sz="16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1" cstate="print"/>
          <a:stretch>
            <a:fillRect/>
          </a:stretch>
        </p:blipFill>
        <p:spPr>
          <a:xfrm>
            <a:off x="583691" y="364236"/>
            <a:ext cx="1418844" cy="1447800"/>
          </a:xfrm>
          <a:prstGeom prst="rect">
            <a:avLst/>
          </a:prstGeom>
        </p:spPr>
      </p:pic>
      <p:pic>
        <p:nvPicPr>
          <p:cNvPr id="4" name="object 4"/>
          <p:cNvPicPr/>
          <p:nvPr/>
        </p:nvPicPr>
        <p:blipFill>
          <a:blip r:embed="rId2" cstate="print"/>
          <a:stretch>
            <a:fillRect/>
          </a:stretch>
        </p:blipFill>
        <p:spPr>
          <a:xfrm>
            <a:off x="10152888" y="483108"/>
            <a:ext cx="1647444" cy="1342644"/>
          </a:xfrm>
          <a:prstGeom prst="rect">
            <a:avLst/>
          </a:prstGeom>
        </p:spPr>
      </p:pic>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
        <p:nvSpPr>
          <p:cNvPr id="7" name="Text Box 6"/>
          <p:cNvSpPr txBox="1"/>
          <p:nvPr/>
        </p:nvSpPr>
        <p:spPr>
          <a:xfrm>
            <a:off x="862965" y="1981200"/>
            <a:ext cx="9290050" cy="2547620"/>
          </a:xfrm>
          <a:prstGeom prst="rect">
            <a:avLst/>
          </a:prstGeom>
        </p:spPr>
        <p:txBody>
          <a:bodyPr wrap="square">
            <a:spAutoFit/>
          </a:bodyPr>
          <a:p>
            <a:pPr>
              <a:spcAft>
                <a:spcPct val="60000"/>
              </a:spcAft>
            </a:pPr>
            <a:r>
              <a:rPr lang="en-US" altLang="zh-CN" sz="1900" b="1">
                <a:latin typeface="Times New Roman" panose="02020603050405020304" charset="0"/>
                <a:cs typeface="Times New Roman" panose="02020603050405020304" charset="0"/>
              </a:rPr>
              <a:t>B. Active Attack</a:t>
            </a:r>
            <a:endParaRPr lang="en-US" altLang="zh-CN" sz="1900" b="1">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The attacker modifies, inserts, deletes, or destroys data.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Easier to detect than passive attacks.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Affects integrity, availability, and authentication. </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Examples:</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Masquerade Attack – Pretending to be an authorized user.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Replay Attack – Reusing captured data or messages.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Message Modification – Altering the original message.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Denial of Service (DoS) Attack – Making a service unavailable to users.</a:t>
            </a:r>
            <a:endParaRPr lang="en-US" altLang="zh-CN" sz="16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761" y="761"/>
            <a:ext cx="12190730" cy="6856730"/>
            <a:chOff x="761" y="761"/>
            <a:chExt cx="12190730" cy="6856730"/>
          </a:xfrm>
        </p:grpSpPr>
        <p:pic>
          <p:nvPicPr>
            <p:cNvPr id="5" name="object 5"/>
            <p:cNvPicPr/>
            <p:nvPr/>
          </p:nvPicPr>
          <p:blipFill>
            <a:blip r:embed="rId1" cstate="print"/>
            <a:stretch>
              <a:fillRect/>
            </a:stretch>
          </p:blipFill>
          <p:spPr>
            <a:xfrm>
              <a:off x="10157459" y="310896"/>
              <a:ext cx="1647444" cy="1342643"/>
            </a:xfrm>
            <a:prstGeom prst="rect">
              <a:avLst/>
            </a:prstGeom>
          </p:spPr>
        </p:pic>
        <p:pic>
          <p:nvPicPr>
            <p:cNvPr id="6" name="object 6"/>
            <p:cNvPicPr/>
            <p:nvPr/>
          </p:nvPicPr>
          <p:blipFill>
            <a:blip r:embed="rId2" cstate="print"/>
            <a:stretch>
              <a:fillRect/>
            </a:stretch>
          </p:blipFill>
          <p:spPr>
            <a:xfrm>
              <a:off x="385571" y="431292"/>
              <a:ext cx="1418843" cy="1447800"/>
            </a:xfrm>
            <a:prstGeom prst="rect">
              <a:avLst/>
            </a:prstGeom>
          </p:spPr>
        </p:pic>
        <p:sp>
          <p:nvSpPr>
            <p:cNvPr id="7" name="object 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grpSp>
      <p:sp>
        <p:nvSpPr>
          <p:cNvPr id="9" name="Text Box 8"/>
          <p:cNvSpPr txBox="1"/>
          <p:nvPr/>
        </p:nvSpPr>
        <p:spPr>
          <a:xfrm>
            <a:off x="556260" y="1752600"/>
            <a:ext cx="11080115" cy="4777105"/>
          </a:xfrm>
          <a:prstGeom prst="rect">
            <a:avLst/>
          </a:prstGeom>
        </p:spPr>
        <p:txBody>
          <a:bodyPr wrap="square">
            <a:spAutoFit/>
          </a:bodyPr>
          <a:p>
            <a:pPr>
              <a:spcAft>
                <a:spcPct val="60000"/>
              </a:spcAft>
            </a:pPr>
            <a:r>
              <a:rPr lang="en-US" altLang="zh-CN" sz="2000" b="1" u="sng">
                <a:latin typeface="Times New Roman" panose="02020603050405020304" charset="0"/>
                <a:cs typeface="Times New Roman" panose="02020603050405020304" charset="0"/>
              </a:rPr>
              <a:t>Threat</a:t>
            </a:r>
            <a:endParaRPr lang="en-US" altLang="zh-CN" sz="2000" b="1" u="sng">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A threat is any potential event or action that can harm a system or its data.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It exploits vulnerabilities in a system.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Threats may be intentional or accidental. </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Examples:</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Malware (Viruses, Worms, Trojans, Ransomware)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Hackers (Unauthorized users)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Natural Disasters (Floods, Earthquakes, Fire)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Insider Attacks (Employees or trusted users misusing access) </a:t>
            </a:r>
            <a:endParaRPr lang="en-US" altLang="zh-CN" sz="1400">
              <a:latin typeface="Times New Roman" panose="02020603050405020304" charset="0"/>
              <a:cs typeface="Times New Roman" panose="02020603050405020304" charset="0"/>
            </a:endParaRPr>
          </a:p>
          <a:p>
            <a:pPr>
              <a:spcAft>
                <a:spcPct val="60000"/>
              </a:spcAft>
            </a:pPr>
            <a:r>
              <a:rPr lang="en-US" altLang="zh-CN" sz="2000" b="1" u="sng">
                <a:latin typeface="Times New Roman" panose="02020603050405020304" charset="0"/>
                <a:cs typeface="Times New Roman" panose="02020603050405020304" charset="0"/>
              </a:rPr>
              <a:t>Risk</a:t>
            </a:r>
            <a:endParaRPr lang="en-US" altLang="zh-CN" sz="2000" b="1" u="sng">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Risk is the possibility of loss or damage caused when a threat exploits a vulnerability.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It measures the potential impact on an organization.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Risk can be reduced by implementing appropriate security controls. </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Formula:</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Risk = Threat × Vulnerability × Impact</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Where:</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Threat: A potential source of danger.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Vulnerability: A weakness that can be exploited.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Impact: The extent of damage caused if the threat occurs.</a:t>
            </a:r>
            <a:endParaRPr lang="en-US" altLang="zh-CN" sz="14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438911" y="448055"/>
            <a:ext cx="1418844" cy="1447800"/>
          </a:xfrm>
          <a:prstGeom prst="rect">
            <a:avLst/>
          </a:prstGeom>
        </p:spPr>
      </p:pic>
      <p:pic>
        <p:nvPicPr>
          <p:cNvPr id="3" name="object 3"/>
          <p:cNvPicPr/>
          <p:nvPr/>
        </p:nvPicPr>
        <p:blipFill>
          <a:blip r:embed="rId2" cstate="print"/>
          <a:stretch>
            <a:fillRect/>
          </a:stretch>
        </p:blipFill>
        <p:spPr>
          <a:xfrm>
            <a:off x="9953243" y="388620"/>
            <a:ext cx="1647444" cy="1342643"/>
          </a:xfrm>
          <a:prstGeom prst="rect">
            <a:avLst/>
          </a:prstGeom>
        </p:spPr>
      </p:pic>
      <p:sp>
        <p:nvSpPr>
          <p:cNvPr id="4" name="object 4" descr="$PPTXTitle"/>
          <p:cNvSpPr txBox="1">
            <a:spLocks noGrp="1"/>
          </p:cNvSpPr>
          <p:nvPr>
            <p:ph type="title"/>
          </p:nvPr>
        </p:nvSpPr>
        <p:spPr>
          <a:xfrm>
            <a:off x="3166745" y="761809"/>
            <a:ext cx="5858509" cy="592455"/>
          </a:xfrm>
          <a:prstGeom prst="rect">
            <a:avLst/>
          </a:prstGeom>
        </p:spPr>
        <p:txBody>
          <a:bodyPr vert="horz" wrap="square" lIns="0" tIns="162471" rIns="0" bIns="0" rtlCol="0">
            <a:spAutoFit/>
          </a:bodyPr>
          <a:lstStyle/>
          <a:p>
            <a:pPr marL="303530" algn="ctr">
              <a:lnSpc>
                <a:spcPct val="100000"/>
              </a:lnSpc>
              <a:spcBef>
                <a:spcPts val="95"/>
              </a:spcBef>
            </a:pPr>
            <a:r>
              <a:rPr lang="en-US" altLang="en-US" spc="-10" dirty="0"/>
              <a:t>Bell-LaPadula Model</a:t>
            </a:r>
            <a:endParaRPr lang="en-US" altLang="en-US" spc="-10" dirty="0"/>
          </a:p>
        </p:txBody>
      </p:sp>
      <p:sp>
        <p:nvSpPr>
          <p:cNvPr id="7" name="object 7"/>
          <p:cNvSpPr/>
          <p:nvPr/>
        </p:nvSpPr>
        <p:spPr>
          <a:xfrm>
            <a:off x="635" y="635"/>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
        <p:nvSpPr>
          <p:cNvPr id="8" name="Text Box 7"/>
          <p:cNvSpPr txBox="1"/>
          <p:nvPr/>
        </p:nvSpPr>
        <p:spPr>
          <a:xfrm>
            <a:off x="815975" y="1798320"/>
            <a:ext cx="9899015" cy="4620260"/>
          </a:xfrm>
          <a:prstGeom prst="rect">
            <a:avLst/>
          </a:prstGeom>
        </p:spPr>
        <p:txBody>
          <a:bodyPr wrap="square">
            <a:spAutoFit/>
          </a:bodyPr>
          <a:p>
            <a:pPr>
              <a:spcAft>
                <a:spcPct val="60000"/>
              </a:spcAft>
            </a:pPr>
            <a:r>
              <a:rPr lang="en-US" altLang="zh-CN" sz="2300" b="1">
                <a:latin typeface="Times New Roman" panose="02020603050405020304" charset="0"/>
                <a:cs typeface="Times New Roman" panose="02020603050405020304" charset="0"/>
              </a:rPr>
              <a:t>Definition</a:t>
            </a:r>
            <a:endParaRPr lang="en-US" altLang="zh-CN" sz="2300" b="1">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The Bell-LaPadula model is a formal access control framework developed in the 1970s for the U.S. Department of Defense to protect classified data</a:t>
            </a:r>
            <a:endParaRPr lang="en-US" altLang="en-US"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The Bell-LaPadula (BLP) Model is a security model developed to protect the confidentiality of sensitive information.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It ensures that users can access only the information they are authorized to view. </a:t>
            </a:r>
            <a:endParaRPr lang="en-US" altLang="zh-CN" sz="1600">
              <a:latin typeface="Times New Roman" panose="02020603050405020304" charset="0"/>
              <a:cs typeface="Times New Roman" panose="02020603050405020304" charset="0"/>
            </a:endParaRPr>
          </a:p>
          <a:p>
            <a:pPr>
              <a:buFont typeface="Arial" panose="020B0604020202020204"/>
              <a:buChar char="•"/>
            </a:pPr>
            <a:r>
              <a:rPr lang="en-US" altLang="zh-CN" sz="1600">
                <a:latin typeface="Times New Roman" panose="02020603050405020304" charset="0"/>
                <a:cs typeface="Times New Roman" panose="02020603050405020304" charset="0"/>
              </a:rPr>
              <a:t> It is mainly used in military, government, and defense organizations where classified information must be protected.</a:t>
            </a:r>
            <a:endParaRPr lang="en-US" altLang="zh-CN" sz="1600">
              <a:latin typeface="Times New Roman" panose="02020603050405020304" charset="0"/>
              <a:cs typeface="Times New Roman" panose="02020603050405020304" charset="0"/>
            </a:endParaRPr>
          </a:p>
          <a:p>
            <a:pPr indent="0">
              <a:buFont typeface="Arial" panose="020B0604020202020204"/>
              <a:buNone/>
            </a:pPr>
            <a:endParaRPr lang="en-US" altLang="zh-CN" sz="1600">
              <a:latin typeface="Times New Roman" panose="02020603050405020304" charset="0"/>
              <a:cs typeface="Times New Roman" panose="02020603050405020304" charset="0"/>
            </a:endParaRPr>
          </a:p>
          <a:p>
            <a:pPr indent="0">
              <a:buFont typeface="Arial" panose="020B0604020202020204"/>
              <a:buNone/>
            </a:pPr>
            <a:r>
              <a:rPr lang="en-US" altLang="en-US" sz="1600" b="1">
                <a:latin typeface="Times New Roman" panose="02020603050405020304" charset="0"/>
                <a:cs typeface="Times New Roman" panose="02020603050405020304" charset="0"/>
              </a:rPr>
              <a:t>Objectives</a:t>
            </a:r>
            <a:endParaRPr lang="en-US" altLang="en-US" sz="1600" b="1">
              <a:latin typeface="Times New Roman" panose="02020603050405020304" charset="0"/>
              <a:cs typeface="Times New Roman" panose="02020603050405020304" charset="0"/>
            </a:endParaRPr>
          </a:p>
          <a:p>
            <a:pPr indent="0">
              <a:buFont typeface="Arial" panose="020B0604020202020204"/>
              <a:buNone/>
            </a:pPr>
            <a:r>
              <a:rPr lang="en-US" altLang="en-US" sz="1600">
                <a:latin typeface="Times New Roman" panose="02020603050405020304" charset="0"/>
                <a:cs typeface="Times New Roman" panose="02020603050405020304" charset="0"/>
              </a:rPr>
              <a:t>Protect confidential information.</a:t>
            </a:r>
            <a:endParaRPr lang="en-US" altLang="en-US" sz="1600">
              <a:latin typeface="Times New Roman" panose="02020603050405020304" charset="0"/>
              <a:cs typeface="Times New Roman" panose="02020603050405020304" charset="0"/>
            </a:endParaRPr>
          </a:p>
          <a:p>
            <a:pPr indent="0">
              <a:buFont typeface="Arial" panose="020B0604020202020204"/>
              <a:buNone/>
            </a:pPr>
            <a:r>
              <a:rPr lang="en-US" altLang="en-US" sz="1600">
                <a:latin typeface="Times New Roman" panose="02020603050405020304" charset="0"/>
                <a:cs typeface="Times New Roman" panose="02020603050405020304" charset="0"/>
              </a:rPr>
              <a:t>Prevent unauthorized access to sensitive data.</a:t>
            </a:r>
            <a:endParaRPr lang="en-US" altLang="en-US" sz="1600">
              <a:latin typeface="Times New Roman" panose="02020603050405020304" charset="0"/>
              <a:cs typeface="Times New Roman" panose="02020603050405020304" charset="0"/>
            </a:endParaRPr>
          </a:p>
          <a:p>
            <a:pPr indent="0">
              <a:buFont typeface="Arial" panose="020B0604020202020204"/>
              <a:buNone/>
            </a:pPr>
            <a:r>
              <a:rPr lang="en-US" altLang="en-US" sz="1600">
                <a:latin typeface="Times New Roman" panose="02020603050405020304" charset="0"/>
                <a:cs typeface="Times New Roman" panose="02020603050405020304" charset="0"/>
              </a:rPr>
              <a:t>Control information flow between different security levels.</a:t>
            </a:r>
            <a:endParaRPr lang="en-US" altLang="en-US" sz="1600">
              <a:latin typeface="Times New Roman" panose="02020603050405020304" charset="0"/>
              <a:cs typeface="Times New Roman" panose="02020603050405020304" charset="0"/>
            </a:endParaRPr>
          </a:p>
          <a:p>
            <a:pPr indent="0">
              <a:buFont typeface="Arial" panose="020B0604020202020204"/>
              <a:buNone/>
            </a:pPr>
            <a:endParaRPr lang="en-US" altLang="en-US" sz="1600">
              <a:latin typeface="Times New Roman" panose="02020603050405020304" charset="0"/>
              <a:cs typeface="Times New Roman" panose="02020603050405020304" charset="0"/>
            </a:endParaRPr>
          </a:p>
          <a:p>
            <a:pPr indent="0">
              <a:buFont typeface="Arial" panose="020B0604020202020204"/>
              <a:buNone/>
            </a:pPr>
            <a:r>
              <a:rPr lang="en-US" altLang="en-US" sz="1600" b="1">
                <a:latin typeface="Times New Roman" panose="02020603050405020304" charset="0"/>
                <a:cs typeface="Times New Roman" panose="02020603050405020304" charset="0"/>
              </a:rPr>
              <a:t>Security Levels</a:t>
            </a:r>
            <a:endParaRPr lang="en-US" altLang="en-US" sz="1600" b="1">
              <a:latin typeface="Times New Roman" panose="02020603050405020304" charset="0"/>
              <a:cs typeface="Times New Roman" panose="02020603050405020304" charset="0"/>
            </a:endParaRPr>
          </a:p>
          <a:p>
            <a:pPr indent="0">
              <a:buFont typeface="Arial" panose="020B0604020202020204"/>
              <a:buNone/>
            </a:pPr>
            <a:r>
              <a:rPr lang="en-US" altLang="en-US" sz="1600">
                <a:latin typeface="Times New Roman" panose="02020603050405020304" charset="0"/>
                <a:cs typeface="Times New Roman" panose="02020603050405020304" charset="0"/>
              </a:rPr>
              <a:t>Top Secret (TS) – Highest level of security.</a:t>
            </a:r>
            <a:endParaRPr lang="en-US" altLang="en-US" sz="1600">
              <a:latin typeface="Times New Roman" panose="02020603050405020304" charset="0"/>
              <a:cs typeface="Times New Roman" panose="02020603050405020304" charset="0"/>
            </a:endParaRPr>
          </a:p>
          <a:p>
            <a:pPr indent="0">
              <a:buFont typeface="Arial" panose="020B0604020202020204"/>
              <a:buNone/>
            </a:pPr>
            <a:r>
              <a:rPr lang="en-US" altLang="en-US" sz="1600">
                <a:latin typeface="Times New Roman" panose="02020603050405020304" charset="0"/>
                <a:cs typeface="Times New Roman" panose="02020603050405020304" charset="0"/>
              </a:rPr>
              <a:t>Secret (S) – High level of confidentiality.</a:t>
            </a:r>
            <a:endParaRPr lang="en-US" altLang="en-US" sz="1600">
              <a:latin typeface="Times New Roman" panose="02020603050405020304" charset="0"/>
              <a:cs typeface="Times New Roman" panose="02020603050405020304" charset="0"/>
            </a:endParaRPr>
          </a:p>
          <a:p>
            <a:pPr indent="0">
              <a:buFont typeface="Arial" panose="020B0604020202020204"/>
              <a:buNone/>
            </a:pPr>
            <a:r>
              <a:rPr lang="en-US" altLang="en-US" sz="1600">
                <a:latin typeface="Times New Roman" panose="02020603050405020304" charset="0"/>
                <a:cs typeface="Times New Roman" panose="02020603050405020304" charset="0"/>
              </a:rPr>
              <a:t>Confidential (C) – Moderate level of security.</a:t>
            </a:r>
            <a:endParaRPr lang="en-US" altLang="en-US" sz="1600">
              <a:latin typeface="Times New Roman" panose="02020603050405020304" charset="0"/>
              <a:cs typeface="Times New Roman" panose="02020603050405020304" charset="0"/>
            </a:endParaRPr>
          </a:p>
          <a:p>
            <a:pPr indent="0">
              <a:buFont typeface="Arial" panose="020B0604020202020204"/>
              <a:buNone/>
            </a:pPr>
            <a:r>
              <a:rPr lang="en-US" altLang="en-US" sz="1600">
                <a:latin typeface="Times New Roman" panose="02020603050405020304" charset="0"/>
                <a:cs typeface="Times New Roman" panose="02020603050405020304" charset="0"/>
              </a:rPr>
              <a:t>Unclassified (U) – Lowest level of security.</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51536" y="298195"/>
            <a:ext cx="11654790" cy="6162675"/>
            <a:chOff x="251536" y="298195"/>
            <a:chExt cx="11654790" cy="6162675"/>
          </a:xfrm>
        </p:grpSpPr>
        <p:sp>
          <p:nvSpPr>
            <p:cNvPr id="3" name="object 3"/>
            <p:cNvSpPr/>
            <p:nvPr/>
          </p:nvSpPr>
          <p:spPr>
            <a:xfrm>
              <a:off x="251536" y="298195"/>
              <a:ext cx="11654790" cy="6162675"/>
            </a:xfrm>
            <a:custGeom>
              <a:avLst/>
              <a:gdLst/>
              <a:ahLst/>
              <a:cxnLst/>
              <a:rect l="l" t="t" r="r" b="b"/>
              <a:pathLst>
                <a:path w="11654790" h="6162675">
                  <a:moveTo>
                    <a:pt x="11635206" y="6162484"/>
                  </a:moveTo>
                  <a:lnTo>
                    <a:pt x="19050" y="6162484"/>
                  </a:lnTo>
                  <a:lnTo>
                    <a:pt x="15747" y="6162192"/>
                  </a:lnTo>
                  <a:lnTo>
                    <a:pt x="0" y="6143434"/>
                  </a:lnTo>
                  <a:lnTo>
                    <a:pt x="0" y="19049"/>
                  </a:lnTo>
                  <a:lnTo>
                    <a:pt x="19050" y="0"/>
                  </a:lnTo>
                  <a:lnTo>
                    <a:pt x="11635206" y="0"/>
                  </a:lnTo>
                  <a:lnTo>
                    <a:pt x="11654256" y="19049"/>
                  </a:lnTo>
                  <a:lnTo>
                    <a:pt x="38100" y="19049"/>
                  </a:lnTo>
                  <a:lnTo>
                    <a:pt x="19050" y="38099"/>
                  </a:lnTo>
                  <a:lnTo>
                    <a:pt x="38100" y="38099"/>
                  </a:lnTo>
                  <a:lnTo>
                    <a:pt x="38100" y="6124384"/>
                  </a:lnTo>
                  <a:lnTo>
                    <a:pt x="19050" y="6124384"/>
                  </a:lnTo>
                  <a:lnTo>
                    <a:pt x="38100" y="6143434"/>
                  </a:lnTo>
                  <a:lnTo>
                    <a:pt x="11654256" y="6143434"/>
                  </a:lnTo>
                  <a:lnTo>
                    <a:pt x="11653964" y="6146736"/>
                  </a:lnTo>
                  <a:lnTo>
                    <a:pt x="11638521" y="6162192"/>
                  </a:lnTo>
                  <a:lnTo>
                    <a:pt x="11635206" y="6162484"/>
                  </a:lnTo>
                  <a:close/>
                </a:path>
                <a:path w="11654790" h="6162675">
                  <a:moveTo>
                    <a:pt x="38100" y="38099"/>
                  </a:moveTo>
                  <a:lnTo>
                    <a:pt x="19050" y="38099"/>
                  </a:lnTo>
                  <a:lnTo>
                    <a:pt x="38100" y="19049"/>
                  </a:lnTo>
                  <a:lnTo>
                    <a:pt x="38100" y="38099"/>
                  </a:lnTo>
                  <a:close/>
                </a:path>
                <a:path w="11654790" h="6162675">
                  <a:moveTo>
                    <a:pt x="11616156" y="38099"/>
                  </a:moveTo>
                  <a:lnTo>
                    <a:pt x="38100" y="38099"/>
                  </a:lnTo>
                  <a:lnTo>
                    <a:pt x="38100" y="19049"/>
                  </a:lnTo>
                  <a:lnTo>
                    <a:pt x="11616156" y="19049"/>
                  </a:lnTo>
                  <a:lnTo>
                    <a:pt x="11616156" y="38099"/>
                  </a:lnTo>
                  <a:close/>
                </a:path>
                <a:path w="11654790" h="6162675">
                  <a:moveTo>
                    <a:pt x="11616156" y="6143434"/>
                  </a:moveTo>
                  <a:lnTo>
                    <a:pt x="11616156" y="19049"/>
                  </a:lnTo>
                  <a:lnTo>
                    <a:pt x="11635206" y="38099"/>
                  </a:lnTo>
                  <a:lnTo>
                    <a:pt x="11654256" y="38099"/>
                  </a:lnTo>
                  <a:lnTo>
                    <a:pt x="11654256" y="6124384"/>
                  </a:lnTo>
                  <a:lnTo>
                    <a:pt x="11635206" y="6124384"/>
                  </a:lnTo>
                  <a:lnTo>
                    <a:pt x="11616156" y="6143434"/>
                  </a:lnTo>
                  <a:close/>
                </a:path>
                <a:path w="11654790" h="6162675">
                  <a:moveTo>
                    <a:pt x="11654256" y="38099"/>
                  </a:moveTo>
                  <a:lnTo>
                    <a:pt x="11635206" y="38099"/>
                  </a:lnTo>
                  <a:lnTo>
                    <a:pt x="11616156" y="19049"/>
                  </a:lnTo>
                  <a:lnTo>
                    <a:pt x="11654256" y="19049"/>
                  </a:lnTo>
                  <a:lnTo>
                    <a:pt x="11654256" y="38099"/>
                  </a:lnTo>
                  <a:close/>
                </a:path>
                <a:path w="11654790" h="6162675">
                  <a:moveTo>
                    <a:pt x="38100" y="6143434"/>
                  </a:moveTo>
                  <a:lnTo>
                    <a:pt x="19050" y="6124384"/>
                  </a:lnTo>
                  <a:lnTo>
                    <a:pt x="38100" y="6124384"/>
                  </a:lnTo>
                  <a:lnTo>
                    <a:pt x="38100" y="6143434"/>
                  </a:lnTo>
                  <a:close/>
                </a:path>
                <a:path w="11654790" h="6162675">
                  <a:moveTo>
                    <a:pt x="11616156" y="6143434"/>
                  </a:moveTo>
                  <a:lnTo>
                    <a:pt x="38100" y="6143434"/>
                  </a:lnTo>
                  <a:lnTo>
                    <a:pt x="38100" y="6124384"/>
                  </a:lnTo>
                  <a:lnTo>
                    <a:pt x="11616156" y="6124384"/>
                  </a:lnTo>
                  <a:lnTo>
                    <a:pt x="11616156" y="6143434"/>
                  </a:lnTo>
                  <a:close/>
                </a:path>
                <a:path w="11654790" h="6162675">
                  <a:moveTo>
                    <a:pt x="11654256" y="6143434"/>
                  </a:moveTo>
                  <a:lnTo>
                    <a:pt x="11616156" y="6143434"/>
                  </a:lnTo>
                  <a:lnTo>
                    <a:pt x="11635206" y="6124384"/>
                  </a:lnTo>
                  <a:lnTo>
                    <a:pt x="11654256" y="6124384"/>
                  </a:lnTo>
                  <a:lnTo>
                    <a:pt x="11654256" y="6143434"/>
                  </a:lnTo>
                  <a:close/>
                </a:path>
              </a:pathLst>
            </a:custGeom>
            <a:solidFill>
              <a:srgbClr val="000000"/>
            </a:solidFill>
          </p:spPr>
          <p:txBody>
            <a:bodyPr wrap="square" lIns="0" tIns="0" rIns="0" bIns="0" rtlCol="0"/>
            <a:lstStyle/>
            <a:p/>
          </p:txBody>
        </p:sp>
        <p:pic>
          <p:nvPicPr>
            <p:cNvPr id="4" name="object 4"/>
            <p:cNvPicPr/>
            <p:nvPr/>
          </p:nvPicPr>
          <p:blipFill>
            <a:blip r:embed="rId1" cstate="print"/>
            <a:stretch>
              <a:fillRect/>
            </a:stretch>
          </p:blipFill>
          <p:spPr>
            <a:xfrm>
              <a:off x="387095" y="413003"/>
              <a:ext cx="1418843" cy="1447800"/>
            </a:xfrm>
            <a:prstGeom prst="rect">
              <a:avLst/>
            </a:prstGeom>
          </p:spPr>
        </p:pic>
      </p:grpSp>
      <p:pic>
        <p:nvPicPr>
          <p:cNvPr id="5" name="object 5"/>
          <p:cNvPicPr/>
          <p:nvPr/>
        </p:nvPicPr>
        <p:blipFill>
          <a:blip r:embed="rId2" cstate="print"/>
          <a:stretch>
            <a:fillRect/>
          </a:stretch>
        </p:blipFill>
        <p:spPr>
          <a:xfrm>
            <a:off x="9953243" y="388620"/>
            <a:ext cx="1647444" cy="1342643"/>
          </a:xfrm>
          <a:prstGeom prst="rect">
            <a:avLst/>
          </a:prstGeom>
        </p:spPr>
      </p:pic>
      <p:sp>
        <p:nvSpPr>
          <p:cNvPr id="8" name="object 8"/>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pic>
        <p:nvPicPr>
          <p:cNvPr id="10" name="Picture 9" descr="ChatGPT Image Jul 15, 2026, 10_27_37 AM (1)"/>
          <p:cNvPicPr>
            <a:picLocks noChangeAspect="1"/>
          </p:cNvPicPr>
          <p:nvPr/>
        </p:nvPicPr>
        <p:blipFill>
          <a:blip r:embed="rId3"/>
          <a:stretch>
            <a:fillRect/>
          </a:stretch>
        </p:blipFill>
        <p:spPr>
          <a:xfrm>
            <a:off x="1981200" y="1066800"/>
            <a:ext cx="7831455" cy="52209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7743" y="280390"/>
            <a:ext cx="11726545" cy="6232525"/>
            <a:chOff x="237743" y="280390"/>
            <a:chExt cx="11726545" cy="6232525"/>
          </a:xfrm>
        </p:grpSpPr>
        <p:sp>
          <p:nvSpPr>
            <p:cNvPr id="3" name="object 3"/>
            <p:cNvSpPr/>
            <p:nvPr/>
          </p:nvSpPr>
          <p:spPr>
            <a:xfrm>
              <a:off x="237743" y="280390"/>
              <a:ext cx="11726545" cy="6232525"/>
            </a:xfrm>
            <a:custGeom>
              <a:avLst/>
              <a:gdLst/>
              <a:ahLst/>
              <a:cxnLst/>
              <a:rect l="l" t="t" r="r" b="b"/>
              <a:pathLst>
                <a:path w="11726545" h="6232525">
                  <a:moveTo>
                    <a:pt x="11707025" y="6232347"/>
                  </a:moveTo>
                  <a:lnTo>
                    <a:pt x="19050" y="6232347"/>
                  </a:lnTo>
                  <a:lnTo>
                    <a:pt x="15735" y="6232067"/>
                  </a:lnTo>
                  <a:lnTo>
                    <a:pt x="0" y="6213297"/>
                  </a:lnTo>
                  <a:lnTo>
                    <a:pt x="0" y="19050"/>
                  </a:lnTo>
                  <a:lnTo>
                    <a:pt x="19050" y="0"/>
                  </a:lnTo>
                  <a:lnTo>
                    <a:pt x="11707025" y="0"/>
                  </a:lnTo>
                  <a:lnTo>
                    <a:pt x="11726075" y="19050"/>
                  </a:lnTo>
                  <a:lnTo>
                    <a:pt x="38100" y="19050"/>
                  </a:lnTo>
                  <a:lnTo>
                    <a:pt x="19050" y="38100"/>
                  </a:lnTo>
                  <a:lnTo>
                    <a:pt x="38100" y="38100"/>
                  </a:lnTo>
                  <a:lnTo>
                    <a:pt x="38100" y="6194247"/>
                  </a:lnTo>
                  <a:lnTo>
                    <a:pt x="19050" y="6194247"/>
                  </a:lnTo>
                  <a:lnTo>
                    <a:pt x="38100" y="6213297"/>
                  </a:lnTo>
                  <a:lnTo>
                    <a:pt x="11726075" y="6213297"/>
                  </a:lnTo>
                  <a:lnTo>
                    <a:pt x="11725795" y="6216611"/>
                  </a:lnTo>
                  <a:lnTo>
                    <a:pt x="11710339" y="6232067"/>
                  </a:lnTo>
                  <a:lnTo>
                    <a:pt x="11707025" y="6232347"/>
                  </a:lnTo>
                  <a:close/>
                </a:path>
                <a:path w="11726545" h="6232525">
                  <a:moveTo>
                    <a:pt x="38100" y="38100"/>
                  </a:moveTo>
                  <a:lnTo>
                    <a:pt x="19050" y="38100"/>
                  </a:lnTo>
                  <a:lnTo>
                    <a:pt x="38100" y="19050"/>
                  </a:lnTo>
                  <a:lnTo>
                    <a:pt x="38100" y="38100"/>
                  </a:lnTo>
                  <a:close/>
                </a:path>
                <a:path w="11726545" h="6232525">
                  <a:moveTo>
                    <a:pt x="11687975" y="38100"/>
                  </a:moveTo>
                  <a:lnTo>
                    <a:pt x="38100" y="38100"/>
                  </a:lnTo>
                  <a:lnTo>
                    <a:pt x="38100" y="19050"/>
                  </a:lnTo>
                  <a:lnTo>
                    <a:pt x="11687975" y="19050"/>
                  </a:lnTo>
                  <a:lnTo>
                    <a:pt x="11687975" y="38100"/>
                  </a:lnTo>
                  <a:close/>
                </a:path>
                <a:path w="11726545" h="6232525">
                  <a:moveTo>
                    <a:pt x="11687975" y="6213297"/>
                  </a:moveTo>
                  <a:lnTo>
                    <a:pt x="11687975" y="19050"/>
                  </a:lnTo>
                  <a:lnTo>
                    <a:pt x="11707025" y="38100"/>
                  </a:lnTo>
                  <a:lnTo>
                    <a:pt x="11726075" y="38100"/>
                  </a:lnTo>
                  <a:lnTo>
                    <a:pt x="11726075" y="6194247"/>
                  </a:lnTo>
                  <a:lnTo>
                    <a:pt x="11707025" y="6194247"/>
                  </a:lnTo>
                  <a:lnTo>
                    <a:pt x="11687975" y="6213297"/>
                  </a:lnTo>
                  <a:close/>
                </a:path>
                <a:path w="11726545" h="6232525">
                  <a:moveTo>
                    <a:pt x="11726075" y="38100"/>
                  </a:moveTo>
                  <a:lnTo>
                    <a:pt x="11707025" y="38100"/>
                  </a:lnTo>
                  <a:lnTo>
                    <a:pt x="11687975" y="19050"/>
                  </a:lnTo>
                  <a:lnTo>
                    <a:pt x="11726075" y="19050"/>
                  </a:lnTo>
                  <a:lnTo>
                    <a:pt x="11726075" y="38100"/>
                  </a:lnTo>
                  <a:close/>
                </a:path>
                <a:path w="11726545" h="6232525">
                  <a:moveTo>
                    <a:pt x="38100" y="6213297"/>
                  </a:moveTo>
                  <a:lnTo>
                    <a:pt x="19050" y="6194247"/>
                  </a:lnTo>
                  <a:lnTo>
                    <a:pt x="38100" y="6194247"/>
                  </a:lnTo>
                  <a:lnTo>
                    <a:pt x="38100" y="6213297"/>
                  </a:lnTo>
                  <a:close/>
                </a:path>
                <a:path w="11726545" h="6232525">
                  <a:moveTo>
                    <a:pt x="11687975" y="6213297"/>
                  </a:moveTo>
                  <a:lnTo>
                    <a:pt x="38100" y="6213297"/>
                  </a:lnTo>
                  <a:lnTo>
                    <a:pt x="38100" y="6194247"/>
                  </a:lnTo>
                  <a:lnTo>
                    <a:pt x="11687975" y="6194247"/>
                  </a:lnTo>
                  <a:lnTo>
                    <a:pt x="11687975" y="6213297"/>
                  </a:lnTo>
                  <a:close/>
                </a:path>
                <a:path w="11726545" h="6232525">
                  <a:moveTo>
                    <a:pt x="11726075" y="6213297"/>
                  </a:moveTo>
                  <a:lnTo>
                    <a:pt x="11687975" y="6213297"/>
                  </a:lnTo>
                  <a:lnTo>
                    <a:pt x="11707025" y="6194247"/>
                  </a:lnTo>
                  <a:lnTo>
                    <a:pt x="11726075" y="6194247"/>
                  </a:lnTo>
                  <a:lnTo>
                    <a:pt x="11726075" y="6213297"/>
                  </a:lnTo>
                  <a:close/>
                </a:path>
              </a:pathLst>
            </a:custGeom>
            <a:solidFill>
              <a:srgbClr val="000000"/>
            </a:solidFill>
          </p:spPr>
          <p:txBody>
            <a:bodyPr wrap="square" lIns="0" tIns="0" rIns="0" bIns="0" rtlCol="0"/>
            <a:lstStyle/>
            <a:p/>
          </p:txBody>
        </p:sp>
        <p:pic>
          <p:nvPicPr>
            <p:cNvPr id="4" name="object 4"/>
            <p:cNvPicPr/>
            <p:nvPr/>
          </p:nvPicPr>
          <p:blipFill>
            <a:blip r:embed="rId1" cstate="print"/>
            <a:stretch>
              <a:fillRect/>
            </a:stretch>
          </p:blipFill>
          <p:spPr>
            <a:xfrm>
              <a:off x="382523" y="364235"/>
              <a:ext cx="1418844" cy="1447800"/>
            </a:xfrm>
            <a:prstGeom prst="rect">
              <a:avLst/>
            </a:prstGeom>
          </p:spPr>
        </p:pic>
      </p:grpSp>
      <p:pic>
        <p:nvPicPr>
          <p:cNvPr id="5" name="object 5"/>
          <p:cNvPicPr/>
          <p:nvPr/>
        </p:nvPicPr>
        <p:blipFill>
          <a:blip r:embed="rId2" cstate="print"/>
          <a:stretch>
            <a:fillRect/>
          </a:stretch>
        </p:blipFill>
        <p:spPr>
          <a:xfrm>
            <a:off x="10285476" y="416051"/>
            <a:ext cx="1647444" cy="1342644"/>
          </a:xfrm>
          <a:prstGeom prst="rect">
            <a:avLst/>
          </a:prstGeom>
        </p:spPr>
      </p:pic>
      <p:sp>
        <p:nvSpPr>
          <p:cNvPr id="7" name="object 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
        <p:nvSpPr>
          <p:cNvPr id="9" name="Text Box 8"/>
          <p:cNvSpPr txBox="1"/>
          <p:nvPr/>
        </p:nvSpPr>
        <p:spPr>
          <a:xfrm>
            <a:off x="838200" y="1852295"/>
            <a:ext cx="10670540" cy="3791585"/>
          </a:xfrm>
          <a:prstGeom prst="rect">
            <a:avLst/>
          </a:prstGeom>
        </p:spPr>
        <p:txBody>
          <a:bodyPr wrap="square">
            <a:noAutofit/>
          </a:bodyPr>
          <a:p>
            <a:pPr>
              <a:spcAft>
                <a:spcPct val="60000"/>
              </a:spcAft>
            </a:pPr>
            <a:r>
              <a:rPr lang="en-US" altLang="zh-CN" sz="2000" b="1">
                <a:latin typeface="Times New Roman" panose="02020603050405020304" charset="0"/>
                <a:cs typeface="Times New Roman" panose="02020603050405020304" charset="0"/>
              </a:rPr>
              <a:t>Definition</a:t>
            </a:r>
            <a:endParaRPr lang="en-US" altLang="zh-CN" sz="2000" b="1">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Classical encryption schemes are traditional methods used to protect data by converting plaintext into ciphertext.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They rely on substitution and transposition techniques. </a:t>
            </a:r>
            <a:endParaRPr lang="en-US" altLang="zh-CN" sz="1400">
              <a:latin typeface="Times New Roman" panose="02020603050405020304" charset="0"/>
              <a:cs typeface="Times New Roman" panose="02020603050405020304" charset="0"/>
            </a:endParaRPr>
          </a:p>
          <a:p>
            <a:pPr>
              <a:spcAft>
                <a:spcPct val="60000"/>
              </a:spcAft>
            </a:pPr>
            <a:r>
              <a:rPr lang="en-US" altLang="zh-CN" sz="2000" b="1">
                <a:latin typeface="Times New Roman" panose="02020603050405020304" charset="0"/>
                <a:cs typeface="Times New Roman" panose="02020603050405020304" charset="0"/>
              </a:rPr>
              <a:t>Types</a:t>
            </a:r>
            <a:endParaRPr lang="en-US" altLang="zh-CN" sz="2000" b="1">
              <a:latin typeface="Times New Roman" panose="02020603050405020304" charset="0"/>
              <a:cs typeface="Times New Roman" panose="02020603050405020304" charset="0"/>
            </a:endParaRPr>
          </a:p>
          <a:p>
            <a:pPr>
              <a:spcAft>
                <a:spcPct val="60000"/>
              </a:spcAft>
            </a:pPr>
            <a:r>
              <a:rPr lang="en-US" altLang="zh-CN" sz="2000" b="1">
                <a:latin typeface="Times New Roman" panose="02020603050405020304" charset="0"/>
                <a:cs typeface="Times New Roman" panose="02020603050405020304" charset="0"/>
              </a:rPr>
              <a:t>1. Substitution Cipher</a:t>
            </a:r>
            <a:endParaRPr lang="en-US" altLang="zh-CN" sz="2000" b="1">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Replaces each letter of the plaintext with another letter or symbol. </a:t>
            </a:r>
            <a:endParaRPr lang="en-US" altLang="zh-CN" sz="1400">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The positions of the letters remain unchanged. </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Example:</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Plaintext : HELLO
Ciphertext: KHOOR</a:t>
            </a:r>
            <a:endParaRPr lang="en-US" altLang="zh-CN" sz="1400">
              <a:latin typeface="Times New Roman" panose="02020603050405020304" charset="0"/>
              <a:cs typeface="Times New Roman" panose="02020603050405020304" charset="0"/>
            </a:endParaRPr>
          </a:p>
          <a:p>
            <a:pPr>
              <a:spcAft>
                <a:spcPct val="60000"/>
              </a:spcAft>
            </a:pPr>
            <a:r>
              <a:rPr lang="en-US" altLang="zh-CN" sz="2000" b="1">
                <a:latin typeface="Times New Roman" panose="02020603050405020304" charset="0"/>
                <a:cs typeface="Times New Roman" panose="02020603050405020304" charset="0"/>
              </a:rPr>
              <a:t>2. Transposition Cipher</a:t>
            </a:r>
            <a:endParaRPr lang="en-US" altLang="zh-CN" sz="2000" b="1">
              <a:latin typeface="Times New Roman" panose="02020603050405020304" charset="0"/>
              <a:cs typeface="Times New Roman" panose="02020603050405020304" charset="0"/>
            </a:endParaRPr>
          </a:p>
          <a:p>
            <a:pPr>
              <a:buFont typeface="Arial" panose="020B0604020202020204"/>
              <a:buChar char="•"/>
            </a:pPr>
            <a:r>
              <a:rPr lang="en-US" altLang="zh-CN" sz="1400">
                <a:latin typeface="Times New Roman" panose="02020603050405020304" charset="0"/>
                <a:cs typeface="Times New Roman" panose="02020603050405020304" charset="0"/>
              </a:rPr>
              <a:t> Rearranges the positions of letters without changing the letters themselves. </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Example:</a:t>
            </a:r>
            <a:endParaRPr lang="en-US" altLang="zh-CN" sz="1400">
              <a:latin typeface="Times New Roman" panose="02020603050405020304" charset="0"/>
              <a:cs typeface="Times New Roman" panose="02020603050405020304" charset="0"/>
            </a:endParaRPr>
          </a:p>
          <a:p>
            <a:r>
              <a:rPr lang="en-US" altLang="zh-CN" sz="1400">
                <a:latin typeface="Times New Roman" panose="02020603050405020304" charset="0"/>
                <a:cs typeface="Times New Roman" panose="02020603050405020304" charset="0"/>
              </a:rPr>
              <a:t>Plaintext : COMPUTER
Ciphertext: CPEOURMT</a:t>
            </a:r>
            <a:endParaRPr lang="en-US" altLang="zh-CN" sz="1400">
              <a:latin typeface="Times New Roman" panose="02020603050405020304" charset="0"/>
              <a:cs typeface="Times New Roman" panose="02020603050405020304" charset="0"/>
            </a:endParaRPr>
          </a:p>
        </p:txBody>
      </p:sp>
      <p:sp>
        <p:nvSpPr>
          <p:cNvPr id="10" name="Text Box 9"/>
          <p:cNvSpPr txBox="1"/>
          <p:nvPr/>
        </p:nvSpPr>
        <p:spPr>
          <a:xfrm>
            <a:off x="3276600" y="685800"/>
            <a:ext cx="6096000" cy="521970"/>
          </a:xfrm>
          <a:prstGeom prst="rect">
            <a:avLst/>
          </a:prstGeom>
          <a:noFill/>
        </p:spPr>
        <p:txBody>
          <a:bodyPr wrap="square" rtlCol="0" anchor="t">
            <a:spAutoFit/>
          </a:bodyPr>
          <a:p>
            <a:pPr algn="ctr">
              <a:spcAft>
                <a:spcPct val="60000"/>
              </a:spcAft>
            </a:pPr>
            <a:r>
              <a:rPr lang="en-US" altLang="zh-CN" sz="2800" b="1">
                <a:latin typeface="Times New Roman" panose="02020603050405020304" charset="0"/>
                <a:cs typeface="Times New Roman" panose="02020603050405020304" charset="0"/>
                <a:sym typeface="+mn-ea"/>
              </a:rPr>
              <a:t>Encryption Schemes </a:t>
            </a:r>
            <a:endParaRPr lang="en-US" altLang="zh-CN" sz="2800" b="1">
              <a:latin typeface="Times New Roman" panose="02020603050405020304" charset="0"/>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7743" y="280390"/>
            <a:ext cx="11726545" cy="6232525"/>
            <a:chOff x="237743" y="280390"/>
            <a:chExt cx="11726545" cy="6232525"/>
          </a:xfrm>
        </p:grpSpPr>
        <p:sp>
          <p:nvSpPr>
            <p:cNvPr id="3" name="object 3"/>
            <p:cNvSpPr/>
            <p:nvPr/>
          </p:nvSpPr>
          <p:spPr>
            <a:xfrm>
              <a:off x="237743" y="280390"/>
              <a:ext cx="11726545" cy="6232525"/>
            </a:xfrm>
            <a:custGeom>
              <a:avLst/>
              <a:gdLst/>
              <a:ahLst/>
              <a:cxnLst/>
              <a:rect l="l" t="t" r="r" b="b"/>
              <a:pathLst>
                <a:path w="11726545" h="6232525">
                  <a:moveTo>
                    <a:pt x="11707025" y="6232347"/>
                  </a:moveTo>
                  <a:lnTo>
                    <a:pt x="19050" y="6232347"/>
                  </a:lnTo>
                  <a:lnTo>
                    <a:pt x="15735" y="6232067"/>
                  </a:lnTo>
                  <a:lnTo>
                    <a:pt x="0" y="6213297"/>
                  </a:lnTo>
                  <a:lnTo>
                    <a:pt x="0" y="19050"/>
                  </a:lnTo>
                  <a:lnTo>
                    <a:pt x="19050" y="0"/>
                  </a:lnTo>
                  <a:lnTo>
                    <a:pt x="11707025" y="0"/>
                  </a:lnTo>
                  <a:lnTo>
                    <a:pt x="11726075" y="19050"/>
                  </a:lnTo>
                  <a:lnTo>
                    <a:pt x="38100" y="19050"/>
                  </a:lnTo>
                  <a:lnTo>
                    <a:pt x="19050" y="38100"/>
                  </a:lnTo>
                  <a:lnTo>
                    <a:pt x="38100" y="38100"/>
                  </a:lnTo>
                  <a:lnTo>
                    <a:pt x="38100" y="6194247"/>
                  </a:lnTo>
                  <a:lnTo>
                    <a:pt x="19050" y="6194247"/>
                  </a:lnTo>
                  <a:lnTo>
                    <a:pt x="38100" y="6213297"/>
                  </a:lnTo>
                  <a:lnTo>
                    <a:pt x="11726075" y="6213297"/>
                  </a:lnTo>
                  <a:lnTo>
                    <a:pt x="11725795" y="6216611"/>
                  </a:lnTo>
                  <a:lnTo>
                    <a:pt x="11710339" y="6232067"/>
                  </a:lnTo>
                  <a:lnTo>
                    <a:pt x="11707025" y="6232347"/>
                  </a:lnTo>
                  <a:close/>
                </a:path>
                <a:path w="11726545" h="6232525">
                  <a:moveTo>
                    <a:pt x="38100" y="38100"/>
                  </a:moveTo>
                  <a:lnTo>
                    <a:pt x="19050" y="38100"/>
                  </a:lnTo>
                  <a:lnTo>
                    <a:pt x="38100" y="19050"/>
                  </a:lnTo>
                  <a:lnTo>
                    <a:pt x="38100" y="38100"/>
                  </a:lnTo>
                  <a:close/>
                </a:path>
                <a:path w="11726545" h="6232525">
                  <a:moveTo>
                    <a:pt x="11687975" y="38100"/>
                  </a:moveTo>
                  <a:lnTo>
                    <a:pt x="38100" y="38100"/>
                  </a:lnTo>
                  <a:lnTo>
                    <a:pt x="38100" y="19050"/>
                  </a:lnTo>
                  <a:lnTo>
                    <a:pt x="11687975" y="19050"/>
                  </a:lnTo>
                  <a:lnTo>
                    <a:pt x="11687975" y="38100"/>
                  </a:lnTo>
                  <a:close/>
                </a:path>
                <a:path w="11726545" h="6232525">
                  <a:moveTo>
                    <a:pt x="11687975" y="6213297"/>
                  </a:moveTo>
                  <a:lnTo>
                    <a:pt x="11687975" y="19050"/>
                  </a:lnTo>
                  <a:lnTo>
                    <a:pt x="11707025" y="38100"/>
                  </a:lnTo>
                  <a:lnTo>
                    <a:pt x="11726075" y="38100"/>
                  </a:lnTo>
                  <a:lnTo>
                    <a:pt x="11726075" y="6194247"/>
                  </a:lnTo>
                  <a:lnTo>
                    <a:pt x="11707025" y="6194247"/>
                  </a:lnTo>
                  <a:lnTo>
                    <a:pt x="11687975" y="6213297"/>
                  </a:lnTo>
                  <a:close/>
                </a:path>
                <a:path w="11726545" h="6232525">
                  <a:moveTo>
                    <a:pt x="11726075" y="38100"/>
                  </a:moveTo>
                  <a:lnTo>
                    <a:pt x="11707025" y="38100"/>
                  </a:lnTo>
                  <a:lnTo>
                    <a:pt x="11687975" y="19050"/>
                  </a:lnTo>
                  <a:lnTo>
                    <a:pt x="11726075" y="19050"/>
                  </a:lnTo>
                  <a:lnTo>
                    <a:pt x="11726075" y="38100"/>
                  </a:lnTo>
                  <a:close/>
                </a:path>
                <a:path w="11726545" h="6232525">
                  <a:moveTo>
                    <a:pt x="38100" y="6213297"/>
                  </a:moveTo>
                  <a:lnTo>
                    <a:pt x="19050" y="6194247"/>
                  </a:lnTo>
                  <a:lnTo>
                    <a:pt x="38100" y="6194247"/>
                  </a:lnTo>
                  <a:lnTo>
                    <a:pt x="38100" y="6213297"/>
                  </a:lnTo>
                  <a:close/>
                </a:path>
                <a:path w="11726545" h="6232525">
                  <a:moveTo>
                    <a:pt x="11687975" y="6213297"/>
                  </a:moveTo>
                  <a:lnTo>
                    <a:pt x="38100" y="6213297"/>
                  </a:lnTo>
                  <a:lnTo>
                    <a:pt x="38100" y="6194247"/>
                  </a:lnTo>
                  <a:lnTo>
                    <a:pt x="11687975" y="6194247"/>
                  </a:lnTo>
                  <a:lnTo>
                    <a:pt x="11687975" y="6213297"/>
                  </a:lnTo>
                  <a:close/>
                </a:path>
                <a:path w="11726545" h="6232525">
                  <a:moveTo>
                    <a:pt x="11726075" y="6213297"/>
                  </a:moveTo>
                  <a:lnTo>
                    <a:pt x="11687975" y="6213297"/>
                  </a:lnTo>
                  <a:lnTo>
                    <a:pt x="11707025" y="6194247"/>
                  </a:lnTo>
                  <a:lnTo>
                    <a:pt x="11726075" y="6194247"/>
                  </a:lnTo>
                  <a:lnTo>
                    <a:pt x="11726075" y="6213297"/>
                  </a:lnTo>
                  <a:close/>
                </a:path>
              </a:pathLst>
            </a:custGeom>
            <a:solidFill>
              <a:srgbClr val="000000"/>
            </a:solidFill>
          </p:spPr>
          <p:txBody>
            <a:bodyPr wrap="square" lIns="0" tIns="0" rIns="0" bIns="0" rtlCol="0"/>
            <a:lstStyle/>
            <a:p/>
          </p:txBody>
        </p:sp>
        <p:pic>
          <p:nvPicPr>
            <p:cNvPr id="4" name="object 4"/>
            <p:cNvPicPr/>
            <p:nvPr/>
          </p:nvPicPr>
          <p:blipFill>
            <a:blip r:embed="rId1" cstate="print"/>
            <a:stretch>
              <a:fillRect/>
            </a:stretch>
          </p:blipFill>
          <p:spPr>
            <a:xfrm>
              <a:off x="382523" y="364235"/>
              <a:ext cx="1418844" cy="1447800"/>
            </a:xfrm>
            <a:prstGeom prst="rect">
              <a:avLst/>
            </a:prstGeom>
          </p:spPr>
        </p:pic>
      </p:grpSp>
      <p:pic>
        <p:nvPicPr>
          <p:cNvPr id="5" name="object 5"/>
          <p:cNvPicPr/>
          <p:nvPr/>
        </p:nvPicPr>
        <p:blipFill>
          <a:blip r:embed="rId2" cstate="print"/>
          <a:stretch>
            <a:fillRect/>
          </a:stretch>
        </p:blipFill>
        <p:spPr>
          <a:xfrm>
            <a:off x="10285476" y="416051"/>
            <a:ext cx="1647444" cy="1342644"/>
          </a:xfrm>
          <a:prstGeom prst="rect">
            <a:avLst/>
          </a:prstGeom>
        </p:spPr>
      </p:pic>
      <p:sp>
        <p:nvSpPr>
          <p:cNvPr id="7" name="object 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graphicFrame>
        <p:nvGraphicFramePr>
          <p:cNvPr id="6" name="Table 5"/>
          <p:cNvGraphicFramePr/>
          <p:nvPr/>
        </p:nvGraphicFramePr>
        <p:xfrm>
          <a:off x="669925" y="1758950"/>
          <a:ext cx="10668635" cy="4297045"/>
        </p:xfrm>
        <a:graphic>
          <a:graphicData uri="http://schemas.openxmlformats.org/drawingml/2006/table">
            <a:tbl>
              <a:tblPr>
                <a:tableStyleId>{616DA210-FB5B-4158-B5E0-FEB733F419BA}</a:tableStyleId>
              </a:tblPr>
              <a:tblGrid>
                <a:gridCol w="1633855"/>
                <a:gridCol w="4314825"/>
                <a:gridCol w="4719955"/>
              </a:tblGrid>
              <a:tr h="537210">
                <a:tc>
                  <a:txBody>
                    <a:bodyPr/>
                    <a:p>
                      <a:pPr algn="ctr"/>
                      <a:r>
                        <a:rPr lang="en-US" altLang="zh-CN" sz="2800" b="1">
                          <a:latin typeface="Times New Roman" panose="02020603050405020304" charset="0"/>
                          <a:cs typeface="Times New Roman" panose="02020603050405020304" charset="0"/>
                        </a:rPr>
                        <a:t>Basis</a:t>
                      </a:r>
                      <a:endParaRPr lang="en-US" altLang="zh-CN" sz="2800" b="1">
                        <a:latin typeface="Times New Roman" panose="02020603050405020304" charset="0"/>
                        <a:cs typeface="Times New Roman" panose="02020603050405020304" charset="0"/>
                      </a:endParaRPr>
                    </a:p>
                  </a:txBody>
                  <a:tcPr marL="0" marR="0" marT="0" marB="0" anchor="ctr" anchorCtr="0"/>
                </a:tc>
                <a:tc>
                  <a:txBody>
                    <a:bodyPr/>
                    <a:p>
                      <a:pPr algn="ctr"/>
                      <a:r>
                        <a:rPr lang="en-US" altLang="zh-CN" sz="2800" b="1">
                          <a:latin typeface="Times New Roman" panose="02020603050405020304" charset="0"/>
                          <a:cs typeface="Times New Roman" panose="02020603050405020304" charset="0"/>
                        </a:rPr>
                        <a:t>Substitution Cipher</a:t>
                      </a:r>
                      <a:endParaRPr lang="en-US" altLang="zh-CN" sz="2800" b="1">
                        <a:latin typeface="Times New Roman" panose="02020603050405020304" charset="0"/>
                        <a:cs typeface="Times New Roman" panose="02020603050405020304" charset="0"/>
                      </a:endParaRPr>
                    </a:p>
                  </a:txBody>
                  <a:tcPr marL="0" marR="0" marT="0" marB="0" anchor="ctr" anchorCtr="0"/>
                </a:tc>
                <a:tc>
                  <a:txBody>
                    <a:bodyPr/>
                    <a:p>
                      <a:pPr algn="ctr"/>
                      <a:r>
                        <a:rPr lang="en-US" altLang="zh-CN" sz="2800" b="1">
                          <a:latin typeface="Times New Roman" panose="02020603050405020304" charset="0"/>
                          <a:cs typeface="Times New Roman" panose="02020603050405020304" charset="0"/>
                        </a:rPr>
                        <a:t>Transposition Cipher</a:t>
                      </a:r>
                      <a:endParaRPr lang="en-US" altLang="zh-CN" sz="2800" b="1">
                        <a:latin typeface="Times New Roman" panose="02020603050405020304" charset="0"/>
                        <a:cs typeface="Times New Roman" panose="02020603050405020304" charset="0"/>
                      </a:endParaRPr>
                    </a:p>
                  </a:txBody>
                  <a:tcPr marL="0" marR="0" marT="0" marB="0" anchor="ctr" anchorCtr="0"/>
                </a:tc>
              </a:tr>
              <a:tr h="537210">
                <a:tc>
                  <a:txBody>
                    <a:bodyPr/>
                    <a:p>
                      <a:pPr algn="ctr"/>
                      <a:r>
                        <a:rPr lang="en-US" altLang="zh-CN" sz="1400" b="1">
                          <a:latin typeface="Times New Roman" panose="02020603050405020304" charset="0"/>
                          <a:cs typeface="Times New Roman" panose="02020603050405020304" charset="0"/>
                        </a:rPr>
                        <a:t>Definition</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Replaces each plaintext character with another character or symbol.</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Rearranges the positions of plaintext characters without changing the characters.</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Principle</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Character replacement</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Character rearrangement</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What Changes?</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Letters change</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Positions of letters change</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Order of Characters</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Remains the same</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Changes</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Characters Used</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Different characters are produced</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Same characters are used</a:t>
                      </a:r>
                      <a:endParaRPr lang="en-US" altLang="zh-CN" sz="1400">
                        <a:latin typeface="Times New Roman" panose="02020603050405020304" charset="0"/>
                        <a:cs typeface="Times New Roman" panose="02020603050405020304" charset="0"/>
                      </a:endParaRPr>
                    </a:p>
                  </a:txBody>
                  <a:tcPr marL="0" marR="0" marT="0" marB="0" anchor="ctr" anchorCtr="0"/>
                </a:tc>
              </a:tr>
              <a:tr h="536575">
                <a:tc>
                  <a:txBody>
                    <a:bodyPr/>
                    <a:p>
                      <a:pPr algn="ctr"/>
                      <a:r>
                        <a:rPr lang="en-US" altLang="zh-CN" sz="1400" b="1">
                          <a:latin typeface="Times New Roman" panose="02020603050405020304" charset="0"/>
                          <a:cs typeface="Times New Roman" panose="02020603050405020304" charset="0"/>
                        </a:rPr>
                        <a:t>Letter Frequency</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Frequency of letters is preserved but mapped to different letters</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Letter frequency remains exactly the same</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Security</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Hides the identity of letters</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Hides the order of letters</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Example</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HELLO → KHOOR</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COMPUTER → CPEOURMT</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Advantages</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Simple to implement and understand</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Preserves original letters while scrambling the message</a:t>
                      </a:r>
                      <a:endParaRPr lang="en-US" altLang="zh-CN" sz="1400">
                        <a:latin typeface="Times New Roman" panose="02020603050405020304" charset="0"/>
                        <a:cs typeface="Times New Roman" panose="02020603050405020304" charset="0"/>
                      </a:endParaRPr>
                    </a:p>
                  </a:txBody>
                  <a:tcPr marL="0" marR="0" marT="0" marB="0" anchor="ctr" anchorCtr="0"/>
                </a:tc>
              </a:tr>
              <a:tr h="268605">
                <a:tc>
                  <a:txBody>
                    <a:bodyPr/>
                    <a:p>
                      <a:pPr algn="ctr"/>
                      <a:r>
                        <a:rPr lang="en-US" altLang="zh-CN" sz="1400" b="1">
                          <a:latin typeface="Times New Roman" panose="02020603050405020304" charset="0"/>
                          <a:cs typeface="Times New Roman" panose="02020603050405020304" charset="0"/>
                        </a:rPr>
                        <a:t>Disadvantages</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Vulnerable to frequency analysis</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Weak if used alone and can be broken by pattern analysis</a:t>
                      </a:r>
                      <a:endParaRPr lang="en-US" altLang="zh-CN" sz="1400">
                        <a:latin typeface="Times New Roman" panose="02020603050405020304" charset="0"/>
                        <a:cs typeface="Times New Roman" panose="02020603050405020304" charset="0"/>
                      </a:endParaRPr>
                    </a:p>
                  </a:txBody>
                  <a:tcPr marL="0" marR="0" marT="0" marB="0" anchor="ctr" anchorCtr="0"/>
                </a:tc>
              </a:tr>
              <a:tr h="537210">
                <a:tc>
                  <a:txBody>
                    <a:bodyPr/>
                    <a:p>
                      <a:pPr algn="ctr"/>
                      <a:r>
                        <a:rPr lang="en-US" altLang="zh-CN" sz="1400" b="1">
                          <a:latin typeface="Times New Roman" panose="02020603050405020304" charset="0"/>
                          <a:cs typeface="Times New Roman" panose="02020603050405020304" charset="0"/>
                        </a:rPr>
                        <a:t>Use Cases</a:t>
                      </a:r>
                      <a:endParaRPr lang="en-US" altLang="zh-CN" sz="1400" b="1">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Caesar Cipher, Monoalphabetic Cipher, Vigenère Cipher, Hill Cipher</a:t>
                      </a:r>
                      <a:endParaRPr lang="en-US" altLang="zh-CN" sz="1400">
                        <a:latin typeface="Times New Roman" panose="02020603050405020304" charset="0"/>
                        <a:cs typeface="Times New Roman" panose="02020603050405020304" charset="0"/>
                      </a:endParaRPr>
                    </a:p>
                  </a:txBody>
                  <a:tcPr marL="0" marR="0" marT="0" marB="0" anchor="ctr" anchorCtr="0"/>
                </a:tc>
                <a:tc>
                  <a:txBody>
                    <a:bodyPr/>
                    <a:p>
                      <a:r>
                        <a:rPr lang="en-US" altLang="zh-CN" sz="1400">
                          <a:latin typeface="Times New Roman" panose="02020603050405020304" charset="0"/>
                          <a:cs typeface="Times New Roman" panose="02020603050405020304" charset="0"/>
                        </a:rPr>
                        <a:t>Rail Fence Cipher, Columnar Transposition Cipher</a:t>
                      </a:r>
                      <a:endParaRPr lang="en-US" altLang="zh-CN" sz="1400">
                        <a:latin typeface="Times New Roman" panose="02020603050405020304" charset="0"/>
                        <a:cs typeface="Times New Roman" panose="02020603050405020304" charset="0"/>
                      </a:endParaRPr>
                    </a:p>
                  </a:txBody>
                  <a:tcPr marL="0" marR="0" marT="0" marB="0"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7743" y="280390"/>
            <a:ext cx="11726545" cy="6232525"/>
            <a:chOff x="237743" y="280390"/>
            <a:chExt cx="11726545" cy="6232525"/>
          </a:xfrm>
        </p:grpSpPr>
        <p:sp>
          <p:nvSpPr>
            <p:cNvPr id="3" name="object 3"/>
            <p:cNvSpPr/>
            <p:nvPr/>
          </p:nvSpPr>
          <p:spPr>
            <a:xfrm>
              <a:off x="237743" y="280390"/>
              <a:ext cx="11726545" cy="6232525"/>
            </a:xfrm>
            <a:custGeom>
              <a:avLst/>
              <a:gdLst/>
              <a:ahLst/>
              <a:cxnLst/>
              <a:rect l="l" t="t" r="r" b="b"/>
              <a:pathLst>
                <a:path w="11726545" h="6232525">
                  <a:moveTo>
                    <a:pt x="11707025" y="6232347"/>
                  </a:moveTo>
                  <a:lnTo>
                    <a:pt x="19050" y="6232347"/>
                  </a:lnTo>
                  <a:lnTo>
                    <a:pt x="15735" y="6232067"/>
                  </a:lnTo>
                  <a:lnTo>
                    <a:pt x="0" y="6213297"/>
                  </a:lnTo>
                  <a:lnTo>
                    <a:pt x="0" y="19050"/>
                  </a:lnTo>
                  <a:lnTo>
                    <a:pt x="19050" y="0"/>
                  </a:lnTo>
                  <a:lnTo>
                    <a:pt x="11707025" y="0"/>
                  </a:lnTo>
                  <a:lnTo>
                    <a:pt x="11726075" y="19050"/>
                  </a:lnTo>
                  <a:lnTo>
                    <a:pt x="38100" y="19050"/>
                  </a:lnTo>
                  <a:lnTo>
                    <a:pt x="19050" y="38100"/>
                  </a:lnTo>
                  <a:lnTo>
                    <a:pt x="38100" y="38100"/>
                  </a:lnTo>
                  <a:lnTo>
                    <a:pt x="38100" y="6194247"/>
                  </a:lnTo>
                  <a:lnTo>
                    <a:pt x="19050" y="6194247"/>
                  </a:lnTo>
                  <a:lnTo>
                    <a:pt x="38100" y="6213297"/>
                  </a:lnTo>
                  <a:lnTo>
                    <a:pt x="11726075" y="6213297"/>
                  </a:lnTo>
                  <a:lnTo>
                    <a:pt x="11725795" y="6216611"/>
                  </a:lnTo>
                  <a:lnTo>
                    <a:pt x="11710339" y="6232067"/>
                  </a:lnTo>
                  <a:lnTo>
                    <a:pt x="11707025" y="6232347"/>
                  </a:lnTo>
                  <a:close/>
                </a:path>
                <a:path w="11726545" h="6232525">
                  <a:moveTo>
                    <a:pt x="38100" y="38100"/>
                  </a:moveTo>
                  <a:lnTo>
                    <a:pt x="19050" y="38100"/>
                  </a:lnTo>
                  <a:lnTo>
                    <a:pt x="38100" y="19050"/>
                  </a:lnTo>
                  <a:lnTo>
                    <a:pt x="38100" y="38100"/>
                  </a:lnTo>
                  <a:close/>
                </a:path>
                <a:path w="11726545" h="6232525">
                  <a:moveTo>
                    <a:pt x="11687975" y="38100"/>
                  </a:moveTo>
                  <a:lnTo>
                    <a:pt x="38100" y="38100"/>
                  </a:lnTo>
                  <a:lnTo>
                    <a:pt x="38100" y="19050"/>
                  </a:lnTo>
                  <a:lnTo>
                    <a:pt x="11687975" y="19050"/>
                  </a:lnTo>
                  <a:lnTo>
                    <a:pt x="11687975" y="38100"/>
                  </a:lnTo>
                  <a:close/>
                </a:path>
                <a:path w="11726545" h="6232525">
                  <a:moveTo>
                    <a:pt x="11687975" y="6213297"/>
                  </a:moveTo>
                  <a:lnTo>
                    <a:pt x="11687975" y="19050"/>
                  </a:lnTo>
                  <a:lnTo>
                    <a:pt x="11707025" y="38100"/>
                  </a:lnTo>
                  <a:lnTo>
                    <a:pt x="11726075" y="38100"/>
                  </a:lnTo>
                  <a:lnTo>
                    <a:pt x="11726075" y="6194247"/>
                  </a:lnTo>
                  <a:lnTo>
                    <a:pt x="11707025" y="6194247"/>
                  </a:lnTo>
                  <a:lnTo>
                    <a:pt x="11687975" y="6213297"/>
                  </a:lnTo>
                  <a:close/>
                </a:path>
                <a:path w="11726545" h="6232525">
                  <a:moveTo>
                    <a:pt x="11726075" y="38100"/>
                  </a:moveTo>
                  <a:lnTo>
                    <a:pt x="11707025" y="38100"/>
                  </a:lnTo>
                  <a:lnTo>
                    <a:pt x="11687975" y="19050"/>
                  </a:lnTo>
                  <a:lnTo>
                    <a:pt x="11726075" y="19050"/>
                  </a:lnTo>
                  <a:lnTo>
                    <a:pt x="11726075" y="38100"/>
                  </a:lnTo>
                  <a:close/>
                </a:path>
                <a:path w="11726545" h="6232525">
                  <a:moveTo>
                    <a:pt x="38100" y="6213297"/>
                  </a:moveTo>
                  <a:lnTo>
                    <a:pt x="19050" y="6194247"/>
                  </a:lnTo>
                  <a:lnTo>
                    <a:pt x="38100" y="6194247"/>
                  </a:lnTo>
                  <a:lnTo>
                    <a:pt x="38100" y="6213297"/>
                  </a:lnTo>
                  <a:close/>
                </a:path>
                <a:path w="11726545" h="6232525">
                  <a:moveTo>
                    <a:pt x="11687975" y="6213297"/>
                  </a:moveTo>
                  <a:lnTo>
                    <a:pt x="38100" y="6213297"/>
                  </a:lnTo>
                  <a:lnTo>
                    <a:pt x="38100" y="6194247"/>
                  </a:lnTo>
                  <a:lnTo>
                    <a:pt x="11687975" y="6194247"/>
                  </a:lnTo>
                  <a:lnTo>
                    <a:pt x="11687975" y="6213297"/>
                  </a:lnTo>
                  <a:close/>
                </a:path>
                <a:path w="11726545" h="6232525">
                  <a:moveTo>
                    <a:pt x="11726075" y="6213297"/>
                  </a:moveTo>
                  <a:lnTo>
                    <a:pt x="11687975" y="6213297"/>
                  </a:lnTo>
                  <a:lnTo>
                    <a:pt x="11707025" y="6194247"/>
                  </a:lnTo>
                  <a:lnTo>
                    <a:pt x="11726075" y="6194247"/>
                  </a:lnTo>
                  <a:lnTo>
                    <a:pt x="11726075" y="6213297"/>
                  </a:lnTo>
                  <a:close/>
                </a:path>
              </a:pathLst>
            </a:custGeom>
            <a:solidFill>
              <a:srgbClr val="000000"/>
            </a:solidFill>
          </p:spPr>
          <p:txBody>
            <a:bodyPr wrap="square" lIns="0" tIns="0" rIns="0" bIns="0" rtlCol="0"/>
            <a:lstStyle/>
            <a:p/>
          </p:txBody>
        </p:sp>
        <p:pic>
          <p:nvPicPr>
            <p:cNvPr id="4" name="object 4"/>
            <p:cNvPicPr/>
            <p:nvPr/>
          </p:nvPicPr>
          <p:blipFill>
            <a:blip r:embed="rId1" cstate="print"/>
            <a:stretch>
              <a:fillRect/>
            </a:stretch>
          </p:blipFill>
          <p:spPr>
            <a:xfrm>
              <a:off x="382523" y="364235"/>
              <a:ext cx="1418844" cy="1447800"/>
            </a:xfrm>
            <a:prstGeom prst="rect">
              <a:avLst/>
            </a:prstGeom>
          </p:spPr>
        </p:pic>
      </p:grpSp>
      <p:pic>
        <p:nvPicPr>
          <p:cNvPr id="5" name="object 5"/>
          <p:cNvPicPr/>
          <p:nvPr/>
        </p:nvPicPr>
        <p:blipFill>
          <a:blip r:embed="rId2" cstate="print"/>
          <a:stretch>
            <a:fillRect/>
          </a:stretch>
        </p:blipFill>
        <p:spPr>
          <a:xfrm>
            <a:off x="10285476" y="416051"/>
            <a:ext cx="1647444" cy="1342644"/>
          </a:xfrm>
          <a:prstGeom prst="rect">
            <a:avLst/>
          </a:prstGeom>
        </p:spPr>
      </p:pic>
      <p:sp>
        <p:nvSpPr>
          <p:cNvPr id="7" name="object 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
        <p:nvSpPr>
          <p:cNvPr id="10" name="Text Box 9"/>
          <p:cNvSpPr txBox="1"/>
          <p:nvPr/>
        </p:nvSpPr>
        <p:spPr>
          <a:xfrm>
            <a:off x="2971800" y="685800"/>
            <a:ext cx="6096000" cy="521970"/>
          </a:xfrm>
          <a:prstGeom prst="rect">
            <a:avLst/>
          </a:prstGeom>
          <a:noFill/>
        </p:spPr>
        <p:txBody>
          <a:bodyPr wrap="square" rtlCol="0" anchor="t">
            <a:spAutoFit/>
          </a:bodyPr>
          <a:p>
            <a:pPr algn="ctr">
              <a:spcAft>
                <a:spcPct val="60000"/>
              </a:spcAft>
            </a:pPr>
            <a:r>
              <a:rPr lang="en-US" altLang="en-US" sz="2800" b="1">
                <a:latin typeface="Times New Roman" panose="02020603050405020304" charset="0"/>
                <a:cs typeface="Times New Roman" panose="02020603050405020304" charset="0"/>
                <a:sym typeface="+mn-ea"/>
              </a:rPr>
              <a:t>Steganography</a:t>
            </a:r>
            <a:endParaRPr lang="en-US" altLang="en-US" sz="2800" b="1">
              <a:latin typeface="Times New Roman" panose="02020603050405020304" charset="0"/>
              <a:cs typeface="Times New Roman" panose="02020603050405020304" charset="0"/>
              <a:sym typeface="+mn-ea"/>
            </a:endParaRPr>
          </a:p>
        </p:txBody>
      </p:sp>
      <p:sp>
        <p:nvSpPr>
          <p:cNvPr id="9" name="Text Box 8"/>
          <p:cNvSpPr txBox="1"/>
          <p:nvPr/>
        </p:nvSpPr>
        <p:spPr>
          <a:xfrm>
            <a:off x="762000" y="1905000"/>
            <a:ext cx="10483215" cy="3725545"/>
          </a:xfrm>
          <a:prstGeom prst="rect">
            <a:avLst/>
          </a:prstGeom>
        </p:spPr>
        <p:txBody>
          <a:bodyPr wrap="square">
            <a:spAutoFit/>
          </a:bodyPr>
          <a:p>
            <a:pPr marL="0" indent="0">
              <a:spcBef>
                <a:spcPts val="1400"/>
              </a:spcBef>
              <a:spcAft>
                <a:spcPts val="700"/>
              </a:spcAft>
            </a:pPr>
            <a:r>
              <a:rPr lang="en-US" altLang="en-US" sz="1900" b="1">
                <a:latin typeface="Times New Roman" panose="02020603050405020304" charset="0"/>
                <a:ea typeface="Google Sans"/>
                <a:cs typeface="Times New Roman" panose="02020603050405020304" charset="0"/>
              </a:rPr>
              <a:t>Definition</a:t>
            </a:r>
            <a:endParaRPr lang="en-US" altLang="en-US" sz="1900" b="1">
              <a:latin typeface="Times New Roman" panose="02020603050405020304" charset="0"/>
              <a:ea typeface="Google Sans"/>
              <a:cs typeface="Times New Roman" panose="02020603050405020304" charset="0"/>
            </a:endParaRPr>
          </a:p>
          <a:p>
            <a:pPr marL="0" indent="0">
              <a:spcBef>
                <a:spcPts val="1400"/>
              </a:spcBef>
              <a:spcAft>
                <a:spcPts val="700"/>
              </a:spcAft>
            </a:pPr>
            <a:r>
              <a:rPr lang="en-US" altLang="en-US" sz="1600" b="0">
                <a:latin typeface="Times New Roman" panose="02020603050405020304" charset="0"/>
                <a:ea typeface="Google Sans"/>
                <a:cs typeface="Times New Roman" panose="02020603050405020304" charset="0"/>
              </a:rPr>
              <a:t>Steganography is the ancient and modern practice of concealing secret information within an ordinary, non-secret file or medium so that the very existence of the data remains hidden. Unlike cryptography, which scrambles a message to make it unreadable, steganography hides the message in plain sight to avoid detection entirely.</a:t>
            </a:r>
            <a:endParaRPr lang="en-US" altLang="en-US" sz="1600" b="0">
              <a:latin typeface="Times New Roman" panose="02020603050405020304" charset="0"/>
              <a:ea typeface="Google Sans"/>
              <a:cs typeface="Times New Roman" panose="02020603050405020304" charset="0"/>
            </a:endParaRPr>
          </a:p>
          <a:p>
            <a:pPr marL="0" indent="0">
              <a:spcBef>
                <a:spcPts val="1400"/>
              </a:spcBef>
              <a:spcAft>
                <a:spcPts val="700"/>
              </a:spcAft>
            </a:pPr>
            <a:r>
              <a:rPr lang="en-US" altLang="zh-CN" sz="1900" b="1">
                <a:latin typeface="Times New Roman" panose="02020603050405020304" charset="0"/>
                <a:ea typeface="Google Sans"/>
                <a:cs typeface="Times New Roman" panose="02020603050405020304" charset="0"/>
              </a:rPr>
              <a:t>How it Works</a:t>
            </a:r>
            <a:endParaRPr lang="en-US" altLang="zh-CN" sz="1900" b="1">
              <a:latin typeface="Times New Roman" panose="02020603050405020304" charset="0"/>
              <a:ea typeface="Google Sans"/>
              <a:cs typeface="Times New Roman" panose="02020603050405020304" charset="0"/>
            </a:endParaRPr>
          </a:p>
          <a:p>
            <a:pPr marL="0" indent="0">
              <a:spcBef>
                <a:spcPts val="700"/>
              </a:spcBef>
              <a:spcAft>
                <a:spcPts val="900"/>
              </a:spcAft>
            </a:pPr>
            <a:r>
              <a:rPr lang="en-US" altLang="zh-CN" sz="1600" b="0">
                <a:latin typeface="Times New Roman" panose="02020603050405020304" charset="0"/>
                <a:ea typeface="Google Sans"/>
                <a:cs typeface="Times New Roman" panose="02020603050405020304" charset="0"/>
              </a:rPr>
              <a:t>At its core, steganography embeds data within a "carrier" medium (such as an image, audio, or video file) by slightly altering the host file without degrading its quality to the naked eye. </a:t>
            </a:r>
            <a:endParaRPr lang="en-US" altLang="zh-CN" sz="1600" b="0">
              <a:latin typeface="Times New Roman" panose="02020603050405020304" charset="0"/>
              <a:ea typeface="Google Sans"/>
              <a:cs typeface="Times New Roman" panose="02020603050405020304" charset="0"/>
            </a:endParaRPr>
          </a:p>
          <a:p>
            <a:pPr marL="0" indent="0">
              <a:spcBef>
                <a:spcPct val="0"/>
              </a:spcBef>
              <a:spcAft>
                <a:spcPct val="0"/>
              </a:spcAft>
              <a:buFont typeface="Arial" panose="020B0604020202020204"/>
              <a:buChar char="•"/>
            </a:pPr>
            <a:r>
              <a:rPr lang="en-US" altLang="zh-CN" sz="1600" b="1">
                <a:latin typeface="Times New Roman" panose="02020603050405020304" charset="0"/>
                <a:ea typeface="Google Sans"/>
                <a:cs typeface="Times New Roman" panose="02020603050405020304" charset="0"/>
              </a:rPr>
              <a:t>Least Significant Bit (LSB):</a:t>
            </a:r>
            <a:r>
              <a:rPr lang="en-US" altLang="zh-CN" sz="1600" b="0">
                <a:latin typeface="Times New Roman" panose="02020603050405020304" charset="0"/>
                <a:ea typeface="Google Sans"/>
                <a:cs typeface="Times New Roman" panose="02020603050405020304" charset="0"/>
              </a:rPr>
              <a:t> In digital images, colors are represented by binary numbers. The LSB is the furthest right bit. Altering it only causes an imperceptible change in color. These bits are overwritten to secretly encode hidden files or text. </a:t>
            </a:r>
            <a:endParaRPr lang="en-US" altLang="zh-CN" sz="1600" b="0">
              <a:latin typeface="Times New Roman" panose="02020603050405020304" charset="0"/>
              <a:ea typeface="Google Sans"/>
              <a:cs typeface="Times New Roman" panose="02020603050405020304" charset="0"/>
            </a:endParaRPr>
          </a:p>
          <a:p>
            <a:pPr marL="0" indent="0">
              <a:spcBef>
                <a:spcPct val="0"/>
              </a:spcBef>
              <a:spcAft>
                <a:spcPct val="0"/>
              </a:spcAft>
              <a:buFont typeface="Arial" panose="020B0604020202020204"/>
              <a:buChar char="•"/>
            </a:pPr>
            <a:r>
              <a:rPr lang="en-US" altLang="zh-CN" sz="1600" b="1">
                <a:latin typeface="Times New Roman" panose="02020603050405020304" charset="0"/>
                <a:ea typeface="Google Sans"/>
                <a:cs typeface="Times New Roman" panose="02020603050405020304" charset="0"/>
              </a:rPr>
              <a:t>File Selection:</a:t>
            </a:r>
            <a:r>
              <a:rPr lang="en-US" altLang="zh-CN" sz="1600" b="0">
                <a:latin typeface="Times New Roman" panose="02020603050405020304" charset="0"/>
                <a:ea typeface="Google Sans"/>
                <a:cs typeface="Times New Roman" panose="02020603050405020304" charset="0"/>
              </a:rPr>
              <a:t> Formats like PNG (which use lossless compression) are typically preferred for image steganography over JPEG, as compression can corrupt the hidden data.</a:t>
            </a:r>
            <a:endParaRPr lang="en-US" altLang="zh-CN" sz="1600" b="0">
              <a:latin typeface="Times New Roman" panose="02020603050405020304" charset="0"/>
              <a:ea typeface="Google Sans"/>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37743" y="280390"/>
            <a:ext cx="11726545" cy="6232525"/>
            <a:chOff x="237743" y="280390"/>
            <a:chExt cx="11726545" cy="6232525"/>
          </a:xfrm>
        </p:grpSpPr>
        <p:sp>
          <p:nvSpPr>
            <p:cNvPr id="3" name="object 3"/>
            <p:cNvSpPr/>
            <p:nvPr/>
          </p:nvSpPr>
          <p:spPr>
            <a:xfrm>
              <a:off x="237743" y="280390"/>
              <a:ext cx="11726545" cy="6232525"/>
            </a:xfrm>
            <a:custGeom>
              <a:avLst/>
              <a:gdLst/>
              <a:ahLst/>
              <a:cxnLst/>
              <a:rect l="l" t="t" r="r" b="b"/>
              <a:pathLst>
                <a:path w="11726545" h="6232525">
                  <a:moveTo>
                    <a:pt x="11707025" y="6232347"/>
                  </a:moveTo>
                  <a:lnTo>
                    <a:pt x="19050" y="6232347"/>
                  </a:lnTo>
                  <a:lnTo>
                    <a:pt x="15735" y="6232067"/>
                  </a:lnTo>
                  <a:lnTo>
                    <a:pt x="0" y="6213297"/>
                  </a:lnTo>
                  <a:lnTo>
                    <a:pt x="0" y="19050"/>
                  </a:lnTo>
                  <a:lnTo>
                    <a:pt x="19050" y="0"/>
                  </a:lnTo>
                  <a:lnTo>
                    <a:pt x="11707025" y="0"/>
                  </a:lnTo>
                  <a:lnTo>
                    <a:pt x="11726075" y="19050"/>
                  </a:lnTo>
                  <a:lnTo>
                    <a:pt x="38100" y="19050"/>
                  </a:lnTo>
                  <a:lnTo>
                    <a:pt x="19050" y="38100"/>
                  </a:lnTo>
                  <a:lnTo>
                    <a:pt x="38100" y="38100"/>
                  </a:lnTo>
                  <a:lnTo>
                    <a:pt x="38100" y="6194247"/>
                  </a:lnTo>
                  <a:lnTo>
                    <a:pt x="19050" y="6194247"/>
                  </a:lnTo>
                  <a:lnTo>
                    <a:pt x="38100" y="6213297"/>
                  </a:lnTo>
                  <a:lnTo>
                    <a:pt x="11726075" y="6213297"/>
                  </a:lnTo>
                  <a:lnTo>
                    <a:pt x="11725795" y="6216611"/>
                  </a:lnTo>
                  <a:lnTo>
                    <a:pt x="11710339" y="6232067"/>
                  </a:lnTo>
                  <a:lnTo>
                    <a:pt x="11707025" y="6232347"/>
                  </a:lnTo>
                  <a:close/>
                </a:path>
                <a:path w="11726545" h="6232525">
                  <a:moveTo>
                    <a:pt x="38100" y="38100"/>
                  </a:moveTo>
                  <a:lnTo>
                    <a:pt x="19050" y="38100"/>
                  </a:lnTo>
                  <a:lnTo>
                    <a:pt x="38100" y="19050"/>
                  </a:lnTo>
                  <a:lnTo>
                    <a:pt x="38100" y="38100"/>
                  </a:lnTo>
                  <a:close/>
                </a:path>
                <a:path w="11726545" h="6232525">
                  <a:moveTo>
                    <a:pt x="11687975" y="38100"/>
                  </a:moveTo>
                  <a:lnTo>
                    <a:pt x="38100" y="38100"/>
                  </a:lnTo>
                  <a:lnTo>
                    <a:pt x="38100" y="19050"/>
                  </a:lnTo>
                  <a:lnTo>
                    <a:pt x="11687975" y="19050"/>
                  </a:lnTo>
                  <a:lnTo>
                    <a:pt x="11687975" y="38100"/>
                  </a:lnTo>
                  <a:close/>
                </a:path>
                <a:path w="11726545" h="6232525">
                  <a:moveTo>
                    <a:pt x="11687975" y="6213297"/>
                  </a:moveTo>
                  <a:lnTo>
                    <a:pt x="11687975" y="19050"/>
                  </a:lnTo>
                  <a:lnTo>
                    <a:pt x="11707025" y="38100"/>
                  </a:lnTo>
                  <a:lnTo>
                    <a:pt x="11726075" y="38100"/>
                  </a:lnTo>
                  <a:lnTo>
                    <a:pt x="11726075" y="6194247"/>
                  </a:lnTo>
                  <a:lnTo>
                    <a:pt x="11707025" y="6194247"/>
                  </a:lnTo>
                  <a:lnTo>
                    <a:pt x="11687975" y="6213297"/>
                  </a:lnTo>
                  <a:close/>
                </a:path>
                <a:path w="11726545" h="6232525">
                  <a:moveTo>
                    <a:pt x="11726075" y="38100"/>
                  </a:moveTo>
                  <a:lnTo>
                    <a:pt x="11707025" y="38100"/>
                  </a:lnTo>
                  <a:lnTo>
                    <a:pt x="11687975" y="19050"/>
                  </a:lnTo>
                  <a:lnTo>
                    <a:pt x="11726075" y="19050"/>
                  </a:lnTo>
                  <a:lnTo>
                    <a:pt x="11726075" y="38100"/>
                  </a:lnTo>
                  <a:close/>
                </a:path>
                <a:path w="11726545" h="6232525">
                  <a:moveTo>
                    <a:pt x="38100" y="6213297"/>
                  </a:moveTo>
                  <a:lnTo>
                    <a:pt x="19050" y="6194247"/>
                  </a:lnTo>
                  <a:lnTo>
                    <a:pt x="38100" y="6194247"/>
                  </a:lnTo>
                  <a:lnTo>
                    <a:pt x="38100" y="6213297"/>
                  </a:lnTo>
                  <a:close/>
                </a:path>
                <a:path w="11726545" h="6232525">
                  <a:moveTo>
                    <a:pt x="11687975" y="6213297"/>
                  </a:moveTo>
                  <a:lnTo>
                    <a:pt x="38100" y="6213297"/>
                  </a:lnTo>
                  <a:lnTo>
                    <a:pt x="38100" y="6194247"/>
                  </a:lnTo>
                  <a:lnTo>
                    <a:pt x="11687975" y="6194247"/>
                  </a:lnTo>
                  <a:lnTo>
                    <a:pt x="11687975" y="6213297"/>
                  </a:lnTo>
                  <a:close/>
                </a:path>
                <a:path w="11726545" h="6232525">
                  <a:moveTo>
                    <a:pt x="11726075" y="6213297"/>
                  </a:moveTo>
                  <a:lnTo>
                    <a:pt x="11687975" y="6213297"/>
                  </a:lnTo>
                  <a:lnTo>
                    <a:pt x="11707025" y="6194247"/>
                  </a:lnTo>
                  <a:lnTo>
                    <a:pt x="11726075" y="6194247"/>
                  </a:lnTo>
                  <a:lnTo>
                    <a:pt x="11726075" y="6213297"/>
                  </a:lnTo>
                  <a:close/>
                </a:path>
              </a:pathLst>
            </a:custGeom>
            <a:solidFill>
              <a:srgbClr val="000000"/>
            </a:solidFill>
          </p:spPr>
          <p:txBody>
            <a:bodyPr wrap="square" lIns="0" tIns="0" rIns="0" bIns="0" rtlCol="0"/>
            <a:lstStyle/>
            <a:p/>
          </p:txBody>
        </p:sp>
        <p:pic>
          <p:nvPicPr>
            <p:cNvPr id="4" name="object 4"/>
            <p:cNvPicPr/>
            <p:nvPr/>
          </p:nvPicPr>
          <p:blipFill>
            <a:blip r:embed="rId1" cstate="print"/>
            <a:stretch>
              <a:fillRect/>
            </a:stretch>
          </p:blipFill>
          <p:spPr>
            <a:xfrm>
              <a:off x="382523" y="364235"/>
              <a:ext cx="1418844" cy="1447800"/>
            </a:xfrm>
            <a:prstGeom prst="rect">
              <a:avLst/>
            </a:prstGeom>
          </p:spPr>
        </p:pic>
      </p:grpSp>
      <p:pic>
        <p:nvPicPr>
          <p:cNvPr id="5" name="object 5"/>
          <p:cNvPicPr/>
          <p:nvPr/>
        </p:nvPicPr>
        <p:blipFill>
          <a:blip r:embed="rId2" cstate="print"/>
          <a:stretch>
            <a:fillRect/>
          </a:stretch>
        </p:blipFill>
        <p:spPr>
          <a:xfrm>
            <a:off x="10285476" y="416051"/>
            <a:ext cx="1647444" cy="1342644"/>
          </a:xfrm>
          <a:prstGeom prst="rect">
            <a:avLst/>
          </a:prstGeom>
        </p:spPr>
      </p:pic>
      <p:sp>
        <p:nvSpPr>
          <p:cNvPr id="6" name="object 6" descr="$PPTXTitle"/>
          <p:cNvSpPr txBox="1">
            <a:spLocks noGrp="1"/>
          </p:cNvSpPr>
          <p:nvPr>
            <p:ph type="title"/>
          </p:nvPr>
        </p:nvSpPr>
        <p:spPr>
          <a:xfrm>
            <a:off x="2316822" y="2854236"/>
            <a:ext cx="3182620" cy="634365"/>
          </a:xfrm>
          <a:prstGeom prst="rect">
            <a:avLst/>
          </a:prstGeom>
        </p:spPr>
        <p:txBody>
          <a:bodyPr vert="horz" wrap="square" lIns="0" tIns="12065" rIns="0" bIns="0" rtlCol="0">
            <a:spAutoFit/>
          </a:bodyPr>
          <a:lstStyle/>
          <a:p>
            <a:pPr marL="12700">
              <a:lnSpc>
                <a:spcPct val="100000"/>
              </a:lnSpc>
              <a:spcBef>
                <a:spcPts val="95"/>
              </a:spcBef>
            </a:pPr>
            <a:r>
              <a:rPr sz="4000" b="0" spc="-10" dirty="0">
                <a:latin typeface="Times New Roman" panose="02020603050405020304"/>
                <a:cs typeface="Times New Roman" panose="02020603050405020304"/>
              </a:rPr>
              <a:t>THANK</a:t>
            </a:r>
            <a:r>
              <a:rPr sz="4000" b="0" spc="-220" dirty="0">
                <a:latin typeface="Times New Roman" panose="02020603050405020304"/>
                <a:cs typeface="Times New Roman" panose="02020603050405020304"/>
              </a:rPr>
              <a:t> </a:t>
            </a:r>
            <a:r>
              <a:rPr sz="4000" b="0" spc="-20" dirty="0">
                <a:latin typeface="Times New Roman" panose="02020603050405020304"/>
                <a:cs typeface="Times New Roman" panose="02020603050405020304"/>
              </a:rPr>
              <a:t>YOU!</a:t>
            </a:r>
            <a:endParaRPr sz="4000">
              <a:latin typeface="Times New Roman" panose="02020603050405020304"/>
              <a:cs typeface="Times New Roman" panose="02020603050405020304"/>
            </a:endParaRPr>
          </a:p>
        </p:txBody>
      </p:sp>
      <p:sp>
        <p:nvSpPr>
          <p:cNvPr id="7" name="object 7"/>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5731</Words>
  <Application>WPS Presentation</Application>
  <PresentationFormat>On-screen Show (4:3)</PresentationFormat>
  <Paragraphs>183</Paragraphs>
  <Slides>11</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vt:i4>
      </vt:variant>
    </vt:vector>
  </HeadingPairs>
  <TitlesOfParts>
    <vt:vector size="27" baseType="lpstr">
      <vt:lpstr>Arial</vt:lpstr>
      <vt:lpstr>SimSun</vt:lpstr>
      <vt:lpstr>Wingdings</vt:lpstr>
      <vt:lpstr>Times New Roman</vt:lpstr>
      <vt:lpstr>Arial MT</vt:lpstr>
      <vt:lpstr>Wingdings</vt:lpstr>
      <vt:lpstr>Calibri</vt:lpstr>
      <vt:lpstr>Courier New</vt:lpstr>
      <vt:lpstr>Microsoft YaHei</vt:lpstr>
      <vt:lpstr>Arial Unicode MS</vt:lpstr>
      <vt:lpstr>Arial</vt:lpstr>
      <vt:lpstr>Times New Roman</vt:lpstr>
      <vt:lpstr>Calibri</vt:lpstr>
      <vt:lpstr>Google Sans</vt:lpstr>
      <vt:lpstr>Segoe Print</vt:lpstr>
      <vt:lpstr>Office Theme</vt:lpstr>
      <vt:lpstr>Online Complaint Registration and Tracking System</vt:lpstr>
      <vt:lpstr>INTRODUCTION</vt:lpstr>
      <vt:lpstr>OBJECTIVE</vt:lpstr>
      <vt:lpstr>PROBLEM STATEMENT</vt:lpstr>
      <vt:lpstr>PROPOSED SOLUTION</vt:lpstr>
      <vt:lpstr>ARHETECTURE DIAGRAM</vt:lpstr>
      <vt:lpstr>Module 1: User Module</vt:lpstr>
      <vt:lpstr>THANK YOU!</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PRESENTATION</dc:title>
  <dc:creator/>
  <cp:lastModifiedBy>Dhañ_19 R</cp:lastModifiedBy>
  <cp:revision>4</cp:revision>
  <dcterms:created xsi:type="dcterms:W3CDTF">2026-07-15T05:02:39Z</dcterms:created>
  <dcterms:modified xsi:type="dcterms:W3CDTF">2026-07-15T05:15:38Z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2026-02-17T05:30:00Z</vt:filetime>
  </property>
  <property fmtid="{D5CDD505-2E9C-101B-9397-08002B2CF9AE}" pid="4" name="Creator">
    <vt:lpwstr>WPS Presentation</vt:lpwstr>
  </property>
  <property fmtid="{D5CDD505-2E9C-101B-9397-08002B2CF9AE}" pid="5" name="LastSaved">
    <vt:filetime>2026-07-15T05:30:00Z</vt:filetime>
  </property>
  <property fmtid="{D5CDD505-2E9C-101B-9397-08002B2CF9AE}" pid="6" name="SourceModified">
    <vt:lpwstr>D:20260217102027+05'30'</vt:lpwstr>
  </property>
  <property fmtid="{D5CDD505-2E9C-101B-9397-08002B2CF9AE}" pid="7" name="KSOProductBuildVer">
    <vt:lpwstr>1033-12.1.0.26880</vt:lpwstr>
  </property>
  <property fmtid="{D5CDD505-2E9C-101B-9397-08002B2CF9AE}" pid="8" name="ICV">
    <vt:lpwstr>4BFDB7BF6DA749AF90E96D1ED02E6C6F_13</vt:lpwstr>
  </property>
</Properties>
</file>